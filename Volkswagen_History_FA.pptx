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4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image" Target="../media/image16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18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image" Target="../media/image20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jpg"/><Relationship Id="rId4" Type="http://schemas.openxmlformats.org/officeDocument/2006/relationships/image" Target="../media/image23.jpg"/><Relationship Id="rId5" Type="http://schemas.openxmlformats.org/officeDocument/2006/relationships/image" Target="../media/image24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6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28.jpg"/><Relationship Id="rId4" Type="http://schemas.openxmlformats.org/officeDocument/2006/relationships/image" Target="../media/image29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image" Target="../media/image34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Relationship Id="rId3" Type="http://schemas.openxmlformats.org/officeDocument/2006/relationships/image" Target="../media/image36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Relationship Id="rId3" Type="http://schemas.openxmlformats.org/officeDocument/2006/relationships/image" Target="../media/image38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jpg"/><Relationship Id="rId3" Type="http://schemas.openxmlformats.org/officeDocument/2006/relationships/image" Target="../media/image4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Relationship Id="rId3" Type="http://schemas.openxmlformats.org/officeDocument/2006/relationships/image" Target="../media/image42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jpg"/><Relationship Id="rId3" Type="http://schemas.openxmlformats.org/officeDocument/2006/relationships/image" Target="../media/image44.jpg"/><Relationship Id="rId4" Type="http://schemas.openxmlformats.org/officeDocument/2006/relationships/image" Target="../media/image45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jpg"/><Relationship Id="rId3" Type="http://schemas.openxmlformats.org/officeDocument/2006/relationships/image" Target="../media/image47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jpg"/><Relationship Id="rId3" Type="http://schemas.openxmlformats.org/officeDocument/2006/relationships/image" Target="../media/image49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jpg"/><Relationship Id="rId3" Type="http://schemas.openxmlformats.org/officeDocument/2006/relationships/image" Target="../media/image51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image" Target="../media/image53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jpg"/><Relationship Id="rId3" Type="http://schemas.openxmlformats.org/officeDocument/2006/relationships/image" Target="../media/image55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jpg"/><Relationship Id="rId3" Type="http://schemas.openxmlformats.org/officeDocument/2006/relationships/image" Target="../media/image2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v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roundel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5735" y="457200"/>
            <a:ext cx="1234440" cy="1234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2331720"/>
            <a:ext cx="1118585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6EC6F0"/>
                </a:solidFill>
                <a:latin typeface="Tahoma"/>
                <a:ea typeface="Tahoma"/>
                <a:cs typeface="Tahoma"/>
              </a:rPr>
              <a:t>از «خودروی مردم» تا بزرگ‌ترین خودروساز اروپا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743200"/>
            <a:ext cx="11185855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5400" b="1" i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تاریخچه فولکس‌واگن</a:t>
            </a:r>
          </a:p>
        </p:txBody>
      </p:sp>
      <p:sp>
        <p:nvSpPr>
          <p:cNvPr id="6" name="Rectangle 5"/>
          <p:cNvSpPr/>
          <p:nvPr/>
        </p:nvSpPr>
        <p:spPr>
          <a:xfrm>
            <a:off x="9677095" y="3913632"/>
            <a:ext cx="2011680" cy="54864"/>
          </a:xfrm>
          <a:prstGeom prst="rect">
            <a:avLst/>
          </a:prstGeom>
          <a:solidFill>
            <a:srgbClr val="E8B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4160520"/>
            <a:ext cx="1118585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300"/>
              </a:spcAft>
            </a:pPr>
            <a:r>
              <a:rPr sz="1600" b="0" i="0">
                <a:solidFill>
                  <a:srgbClr val="DCE6F0"/>
                </a:solidFill>
                <a:latin typeface="Tahoma"/>
                <a:ea typeface="Tahoma"/>
                <a:cs typeface="Tahoma"/>
              </a:rPr>
              <a:t>روایتی کامل و مصور از ۱۹۳۴ تا امروز؛ از قرارداد طراحی فریدیناند پورشه و کارخانه ولفسبورگ،</a:t>
            </a:r>
          </a:p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DCE6F0"/>
                </a:solidFill>
                <a:latin typeface="Tahoma"/>
                <a:ea typeface="Tahoma"/>
                <a:cs typeface="Tahoma"/>
              </a:rPr>
              <a:t>تا بیتل افسانه‌ای، کمپین «فکر کوچک»، دیزل‌گیت و خانواده برقی ID.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989320"/>
            <a:ext cx="1118585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9BED3"/>
                </a:solidFill>
                <a:latin typeface="Tahoma"/>
                <a:ea typeface="Tahoma"/>
                <a:cs typeface="Tahoma"/>
              </a:rPr>
              <a:t>۳۶ اسلاید  •  بیش از ۴۵ تصویر تاریخی و مدرن  •  خط زمانی، آمار و تحلیل  •  پاییز ۲۰۲۵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28BDC"/>
                </a:solidFill>
                <a:latin typeface="Tahoma"/>
                <a:ea typeface="Tahoma"/>
                <a:cs typeface="Tahoma"/>
              </a:rPr>
              <a:t>فهرست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8585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81B33"/>
                </a:solidFill>
                <a:latin typeface="Tahoma"/>
                <a:ea typeface="Tahoma"/>
                <a:cs typeface="Tahoma"/>
              </a:rPr>
              <a:t>در این ارائه چه می‌خوانیم؟</a:t>
            </a:r>
          </a:p>
        </p:txBody>
      </p:sp>
      <p:sp>
        <p:nvSpPr>
          <p:cNvPr id="5" name="Rectangle 4"/>
          <p:cNvSpPr/>
          <p:nvPr/>
        </p:nvSpPr>
        <p:spPr>
          <a:xfrm>
            <a:off x="10454335" y="1225296"/>
            <a:ext cx="1234440" cy="41148"/>
          </a:xfrm>
          <a:prstGeom prst="rect">
            <a:avLst/>
          </a:prstGeom>
          <a:solidFill>
            <a:srgbClr val="128B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899855" y="1239012"/>
            <a:ext cx="1417320" cy="18288"/>
          </a:xfrm>
          <a:prstGeom prst="rect">
            <a:avLst/>
          </a:prstGeom>
          <a:solidFill>
            <a:srgbClr val="D5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24447" y="1600200"/>
            <a:ext cx="5364327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02C50"/>
                </a:solidFill>
                <a:latin typeface="Tahoma"/>
                <a:ea typeface="Tahoma"/>
                <a:cs typeface="Tahoma"/>
              </a:rPr>
              <a:t>۱. ریشه‌ها: ایده «خودروی مردم» (۱۹۳۴–۱۹۳۶)</a:t>
            </a:r>
          </a:p>
          <a:p>
            <a:pPr rtl="1" algn="r">
              <a:spcBef>
                <a:spcPts val="1300"/>
              </a:spcBef>
              <a:spcAft>
                <a:spcPts val="0"/>
              </a:spcAft>
            </a:pPr>
            <a:r>
              <a:rPr sz="1450" b="0" i="0">
                <a:solidFill>
                  <a:srgbClr val="102C50"/>
                </a:solidFill>
                <a:latin typeface="Tahoma"/>
                <a:ea typeface="Tahoma"/>
                <a:cs typeface="Tahoma"/>
              </a:rPr>
              <a:t>۲. پورشه، پروتوتایپ‌ها و تأسیس شرکت (۱۹۳۷–۱۹۳۸)</a:t>
            </a:r>
          </a:p>
          <a:p>
            <a:pPr rtl="1" algn="r">
              <a:spcBef>
                <a:spcPts val="1300"/>
              </a:spcBef>
              <a:spcAft>
                <a:spcPts val="0"/>
              </a:spcAft>
            </a:pPr>
            <a:r>
              <a:rPr sz="1450" b="0" i="0">
                <a:solidFill>
                  <a:srgbClr val="102C50"/>
                </a:solidFill>
                <a:latin typeface="Tahoma"/>
                <a:ea typeface="Tahoma"/>
                <a:cs typeface="Tahoma"/>
              </a:rPr>
              <a:t>۳. جنگ جهانی، کار اجباری و خودروهای نظامی</a:t>
            </a:r>
          </a:p>
          <a:p>
            <a:pPr rtl="1" algn="r">
              <a:spcBef>
                <a:spcPts val="1300"/>
              </a:spcBef>
              <a:spcAft>
                <a:spcPts val="0"/>
              </a:spcAft>
            </a:pPr>
            <a:r>
              <a:rPr sz="1450" b="0" i="0">
                <a:solidFill>
                  <a:srgbClr val="102C50"/>
                </a:solidFill>
                <a:latin typeface="Tahoma"/>
                <a:ea typeface="Tahoma"/>
                <a:cs typeface="Tahoma"/>
              </a:rPr>
              <a:t>۴. ۱۹۴۵: نجات کارخانه به دست بریتانیا</a:t>
            </a:r>
          </a:p>
          <a:p>
            <a:pPr rtl="1" algn="r">
              <a:spcBef>
                <a:spcPts val="1300"/>
              </a:spcBef>
              <a:spcAft>
                <a:spcPts val="0"/>
              </a:spcAft>
            </a:pPr>
            <a:r>
              <a:rPr sz="1450" b="0" i="0">
                <a:solidFill>
                  <a:srgbClr val="102C50"/>
                </a:solidFill>
                <a:latin typeface="Tahoma"/>
                <a:ea typeface="Tahoma"/>
                <a:cs typeface="Tahoma"/>
              </a:rPr>
              <a:t>۵. معجزه اقتصادی و صادرات بیتل به جهان</a:t>
            </a:r>
          </a:p>
          <a:p>
            <a:pPr rtl="1" algn="r">
              <a:spcBef>
                <a:spcPts val="1300"/>
              </a:spcBef>
              <a:spcAft>
                <a:spcPts val="0"/>
              </a:spcAft>
            </a:pPr>
            <a:r>
              <a:rPr sz="1450" b="0" i="0">
                <a:solidFill>
                  <a:srgbClr val="102C50"/>
                </a:solidFill>
                <a:latin typeface="Tahoma"/>
                <a:ea typeface="Tahoma"/>
                <a:cs typeface="Tahoma"/>
              </a:rPr>
              <a:t>۶. انقلاب تبلیغات: کمپین «فکر کوچک»</a:t>
            </a:r>
          </a:p>
          <a:p>
            <a:pPr rtl="1" algn="r">
              <a:spcBef>
                <a:spcPts val="1300"/>
              </a:spcBef>
              <a:spcAft>
                <a:spcPts val="0"/>
              </a:spcAft>
            </a:pPr>
            <a:r>
              <a:rPr sz="1450" b="0" i="0">
                <a:solidFill>
                  <a:srgbClr val="102C50"/>
                </a:solidFill>
                <a:latin typeface="Tahoma"/>
                <a:ea typeface="Tahoma"/>
                <a:cs typeface="Tahoma"/>
              </a:rPr>
              <a:t>۷. خانواده بزرگ: بولی، کارمان گیا، تیپ ۳ و 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00200"/>
            <a:ext cx="5364327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02C50"/>
                </a:solidFill>
                <a:latin typeface="Tahoma"/>
                <a:ea typeface="Tahoma"/>
                <a:cs typeface="Tahoma"/>
              </a:rPr>
              <a:t>۸. بحران دهه ۷۰ و تولد گلف، پاسات و پولو</a:t>
            </a:r>
          </a:p>
          <a:p>
            <a:pPr rtl="1" algn="r">
              <a:spcBef>
                <a:spcPts val="1300"/>
              </a:spcBef>
              <a:spcAft>
                <a:spcPts val="0"/>
              </a:spcAft>
            </a:pPr>
            <a:r>
              <a:rPr sz="1450" b="0" i="0">
                <a:solidFill>
                  <a:srgbClr val="102C50"/>
                </a:solidFill>
                <a:latin typeface="Tahoma"/>
                <a:ea typeface="Tahoma"/>
                <a:cs typeface="Tahoma"/>
              </a:rPr>
              <a:t>۹. گسترش جهانی: مکزیک، برزیل و چین</a:t>
            </a:r>
          </a:p>
          <a:p>
            <a:pPr rtl="1" algn="r">
              <a:spcBef>
                <a:spcPts val="1300"/>
              </a:spcBef>
              <a:spcAft>
                <a:spcPts val="0"/>
              </a:spcAft>
            </a:pPr>
            <a:r>
              <a:rPr sz="1450" b="0" i="0">
                <a:solidFill>
                  <a:srgbClr val="102C50"/>
                </a:solidFill>
                <a:latin typeface="Tahoma"/>
                <a:ea typeface="Tahoma"/>
                <a:cs typeface="Tahoma"/>
              </a:rPr>
              <a:t>۱۰. امپراتوری برندها و بلندپروازی لوکس</a:t>
            </a:r>
          </a:p>
          <a:p>
            <a:pPr rtl="1" algn="r">
              <a:spcBef>
                <a:spcPts val="1300"/>
              </a:spcBef>
              <a:spcAft>
                <a:spcPts val="0"/>
              </a:spcAft>
            </a:pPr>
            <a:r>
              <a:rPr sz="1450" b="0" i="0">
                <a:solidFill>
                  <a:srgbClr val="102C50"/>
                </a:solidFill>
                <a:latin typeface="Tahoma"/>
                <a:ea typeface="Tahoma"/>
                <a:cs typeface="Tahoma"/>
              </a:rPr>
              <a:t>۱۱. بیتل نو، موتوراسپورت و رکوردها</a:t>
            </a:r>
          </a:p>
          <a:p>
            <a:pPr rtl="1" algn="r">
              <a:spcBef>
                <a:spcPts val="1300"/>
              </a:spcBef>
              <a:spcAft>
                <a:spcPts val="0"/>
              </a:spcAft>
            </a:pPr>
            <a:r>
              <a:rPr sz="1450" b="0" i="0">
                <a:solidFill>
                  <a:srgbClr val="102C50"/>
                </a:solidFill>
                <a:latin typeface="Tahoma"/>
                <a:ea typeface="Tahoma"/>
                <a:cs typeface="Tahoma"/>
              </a:rPr>
              <a:t>۱۲. دیزل‌گیت ۲۰۱۵ و بازسازی اعتماد</a:t>
            </a:r>
          </a:p>
          <a:p>
            <a:pPr rtl="1" algn="r">
              <a:spcBef>
                <a:spcPts val="1300"/>
              </a:spcBef>
              <a:spcAft>
                <a:spcPts val="0"/>
              </a:spcAft>
            </a:pPr>
            <a:r>
              <a:rPr sz="1450" b="0" i="0">
                <a:solidFill>
                  <a:srgbClr val="102C50"/>
                </a:solidFill>
                <a:latin typeface="Tahoma"/>
                <a:ea typeface="Tahoma"/>
                <a:cs typeface="Tahoma"/>
              </a:rPr>
              <a:t>۱۳. چرخش الکتریکی: پلتفرم MEB و خانواده ID</a:t>
            </a:r>
          </a:p>
          <a:p>
            <a:pPr rtl="1" algn="r">
              <a:spcBef>
                <a:spcPts val="1300"/>
              </a:spcBef>
              <a:spcAft>
                <a:spcPts val="0"/>
              </a:spcAft>
            </a:pPr>
            <a:r>
              <a:rPr sz="1450" b="0" i="0">
                <a:solidFill>
                  <a:srgbClr val="102C50"/>
                </a:solidFill>
                <a:latin typeface="Tahoma"/>
                <a:ea typeface="Tahoma"/>
                <a:cs typeface="Tahoma"/>
              </a:rPr>
              <a:t>۱۴. خط زمانی، آمار کلیدی، میراث فرهنگی و جمع‌بندی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5847" y="1600200"/>
            <a:ext cx="18288" cy="4480560"/>
          </a:xfrm>
          <a:prstGeom prst="rect">
            <a:avLst/>
          </a:prstGeom>
          <a:solidFill>
            <a:srgbClr val="DC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roundel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2927" y="5806440"/>
            <a:ext cx="1005840" cy="10058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762695" y="6437376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C6B7A"/>
                </a:solidFill>
                <a:latin typeface="Tahoma"/>
                <a:ea typeface="Tahoma"/>
                <a:cs typeface="Tahoma"/>
              </a:rPr>
              <a:t>تاریخچه فولکس‌واگن  |  ۱۹۳۷ تا امروز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00800"/>
            <a:ext cx="7315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28BDC"/>
                </a:solidFill>
                <a:latin typeface="Tahoma"/>
                <a:ea typeface="Tahoma"/>
                <a:cs typeface="Tahoma"/>
              </a:rPr>
              <a:t>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28BDC"/>
                </a:solidFill>
                <a:latin typeface="Tahoma"/>
                <a:ea typeface="Tahoma"/>
                <a:cs typeface="Tahoma"/>
              </a:rPr>
              <a:t>مقدمه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8585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81B33"/>
                </a:solidFill>
                <a:latin typeface="Tahoma"/>
                <a:ea typeface="Tahoma"/>
                <a:cs typeface="Tahoma"/>
              </a:rPr>
              <a:t>فولکس‌واگن در یک نگاه</a:t>
            </a:r>
          </a:p>
        </p:txBody>
      </p:sp>
      <p:sp>
        <p:nvSpPr>
          <p:cNvPr id="5" name="Rectangle 4"/>
          <p:cNvSpPr/>
          <p:nvPr/>
        </p:nvSpPr>
        <p:spPr>
          <a:xfrm>
            <a:off x="10454335" y="1225296"/>
            <a:ext cx="1234440" cy="41148"/>
          </a:xfrm>
          <a:prstGeom prst="rect">
            <a:avLst/>
          </a:prstGeom>
          <a:solidFill>
            <a:srgbClr val="128B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899855" y="1239012"/>
            <a:ext cx="1417320" cy="18288"/>
          </a:xfrm>
          <a:prstGeom prst="rect">
            <a:avLst/>
          </a:prstGeom>
          <a:solidFill>
            <a:srgbClr val="D5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562295" y="1572768"/>
            <a:ext cx="61264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222B36"/>
                </a:solidFill>
                <a:latin typeface="Tahoma"/>
                <a:ea typeface="Tahoma"/>
                <a:cs typeface="Tahoma"/>
              </a:rPr>
              <a:t>فولکس‌واگن (Volkswagen به معنای «خودروی مردم») شرکتی است که از دل یک پروژه سیاسی-صنعتی در آلمانِ دهه ۱۹۳۰ برخاست و امروز قلب بزرگ‌ترین گروه خودروسازی اروپا است؛ گروهی با ده‌ها برند، بیش از صد کارخانه و فروش سالانه نزدیک به ده میلیون خودرو.</a:t>
            </a:r>
          </a:p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22B36"/>
                </a:solidFill>
                <a:latin typeface="Tahoma"/>
                <a:ea typeface="Tahoma"/>
                <a:cs typeface="Tahoma"/>
              </a:rPr>
              <a:t>داستان این شرکت، داستان قرن بیستم است: جنگ و ویرانی، معجزه اقتصادی، جهانی‌شدن، رسوایی و بازسازی؛ و اکنون چرخشی بزرگ به سوی خودروی برقی.</a:t>
            </a:r>
          </a:p>
        </p:txBody>
      </p:sp>
      <p:pic>
        <p:nvPicPr>
          <p:cNvPr id="8" name="Picture 7" descr="wolfs_aerial.jpg"/>
          <p:cNvPicPr>
            <a:picLocks noChangeAspect="1"/>
          </p:cNvPicPr>
          <p:nvPr/>
        </p:nvPicPr>
        <p:blipFill>
          <a:blip r:embed="rId2"/>
          <a:srcRect t="10120" b="10120"/>
          <a:stretch>
            <a:fillRect/>
          </a:stretch>
        </p:blipFill>
        <p:spPr>
          <a:xfrm>
            <a:off x="502920" y="1572768"/>
            <a:ext cx="4754880" cy="2788920"/>
          </a:xfrm>
          <a:prstGeom prst="rect">
            <a:avLst/>
          </a:prstGeom>
          <a:ln w="34925">
            <a:solidFill>
              <a:srgbClr val="FFFFFF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02920" y="4407408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B7A"/>
                </a:solidFill>
                <a:latin typeface="Tahoma"/>
                <a:ea typeface="Tahoma"/>
                <a:cs typeface="Tahoma"/>
              </a:rPr>
              <a:t>نمای هوایی مجموعه کارخانه ولفسبورگ؛ بزرگ‌ترین کارخانه خودروی جهان.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71255" y="3154680"/>
            <a:ext cx="3017520" cy="7863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1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606479" y="3319272"/>
            <a:ext cx="82296" cy="457200"/>
          </a:xfrm>
          <a:prstGeom prst="rect">
            <a:avLst/>
          </a:prstGeom>
          <a:solidFill>
            <a:srgbClr val="128B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72423" y="3282696"/>
            <a:ext cx="2606039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200"/>
              </a:spcAft>
            </a:pPr>
            <a:r>
              <a:rPr sz="2100" b="1" i="0">
                <a:solidFill>
                  <a:srgbClr val="128BDC"/>
                </a:solidFill>
                <a:latin typeface="Tahoma"/>
                <a:ea typeface="Tahoma"/>
                <a:cs typeface="Tahoma"/>
              </a:rPr>
              <a:t>۱۹۳۷</a:t>
            </a:r>
          </a:p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B7A"/>
                </a:solidFill>
                <a:latin typeface="Tahoma"/>
                <a:ea typeface="Tahoma"/>
                <a:cs typeface="Tahoma"/>
              </a:rPr>
              <a:t>سال تأسیس شرکت در برلین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71255" y="4050791"/>
            <a:ext cx="3017520" cy="7863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1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606479" y="4215383"/>
            <a:ext cx="82296" cy="457200"/>
          </a:xfrm>
          <a:prstGeom prst="rect">
            <a:avLst/>
          </a:prstGeom>
          <a:solidFill>
            <a:srgbClr val="128B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72423" y="4178807"/>
            <a:ext cx="2606039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200"/>
              </a:spcAft>
            </a:pPr>
            <a:r>
              <a:rPr sz="2100" b="1" i="0">
                <a:solidFill>
                  <a:srgbClr val="128BDC"/>
                </a:solidFill>
                <a:latin typeface="Tahoma"/>
                <a:ea typeface="Tahoma"/>
                <a:cs typeface="Tahoma"/>
              </a:rPr>
              <a:t>۹٫۲ میلیون</a:t>
            </a:r>
          </a:p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B7A"/>
                </a:solidFill>
                <a:latin typeface="Tahoma"/>
                <a:ea typeface="Tahoma"/>
                <a:cs typeface="Tahoma"/>
              </a:rPr>
              <a:t>فروش سالانه گروه (۲۰۲۳)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562295" y="4983480"/>
            <a:ext cx="3017520" cy="7863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1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497519" y="5148072"/>
            <a:ext cx="82296" cy="457200"/>
          </a:xfrm>
          <a:prstGeom prst="rect">
            <a:avLst/>
          </a:prstGeom>
          <a:solidFill>
            <a:srgbClr val="128B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63463" y="5111496"/>
            <a:ext cx="2606039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200"/>
              </a:spcAft>
            </a:pPr>
            <a:r>
              <a:rPr sz="2100" b="1" i="0">
                <a:solidFill>
                  <a:srgbClr val="128BDC"/>
                </a:solidFill>
                <a:latin typeface="Tahoma"/>
                <a:ea typeface="Tahoma"/>
                <a:cs typeface="Tahoma"/>
              </a:rPr>
              <a:t>~۶۸۴ هزار</a:t>
            </a:r>
          </a:p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B7A"/>
                </a:solidFill>
                <a:latin typeface="Tahoma"/>
                <a:ea typeface="Tahoma"/>
                <a:cs typeface="Tahoma"/>
              </a:rPr>
              <a:t>کارمند در سراسر جهان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71255" y="4983480"/>
            <a:ext cx="3017520" cy="7863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1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606479" y="5148072"/>
            <a:ext cx="82296" cy="457200"/>
          </a:xfrm>
          <a:prstGeom prst="rect">
            <a:avLst/>
          </a:prstGeom>
          <a:solidFill>
            <a:srgbClr val="128B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72423" y="5111496"/>
            <a:ext cx="2606039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200"/>
              </a:spcAft>
            </a:pPr>
            <a:r>
              <a:rPr sz="2100" b="1" i="0">
                <a:solidFill>
                  <a:srgbClr val="128BDC"/>
                </a:solidFill>
                <a:latin typeface="Tahoma"/>
                <a:ea typeface="Tahoma"/>
                <a:cs typeface="Tahoma"/>
              </a:rPr>
              <a:t>۳۲۲ میلیارد €</a:t>
            </a:r>
          </a:p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B7A"/>
                </a:solidFill>
                <a:latin typeface="Tahoma"/>
                <a:ea typeface="Tahoma"/>
                <a:cs typeface="Tahoma"/>
              </a:rPr>
              <a:t>درآمد سالانه گروه (۲۰۲۳)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62695" y="6437376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C6B7A"/>
                </a:solidFill>
                <a:latin typeface="Tahoma"/>
                <a:ea typeface="Tahoma"/>
                <a:cs typeface="Tahoma"/>
              </a:rPr>
              <a:t>تاریخچه فولکس‌واگن  |  ۱۹۳۷ تا امروز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00800"/>
            <a:ext cx="7315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28BDC"/>
                </a:solidFill>
                <a:latin typeface="Tahoma"/>
                <a:ea typeface="Tahoma"/>
                <a:cs typeface="Tahoma"/>
              </a:rPr>
              <a:t>02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28BDC"/>
                </a:solidFill>
                <a:latin typeface="Tahoma"/>
                <a:ea typeface="Tahoma"/>
                <a:cs typeface="Tahoma"/>
              </a:rPr>
              <a:t>بخش یکم — ریشه‌ها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8585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81B33"/>
                </a:solidFill>
                <a:latin typeface="Tahoma"/>
                <a:ea typeface="Tahoma"/>
                <a:cs typeface="Tahoma"/>
              </a:rPr>
              <a:t>ایده «خودروی مردم» (۱۹۳۴–۱۹۳۶)</a:t>
            </a:r>
          </a:p>
        </p:txBody>
      </p:sp>
      <p:sp>
        <p:nvSpPr>
          <p:cNvPr id="5" name="Rectangle 4"/>
          <p:cNvSpPr/>
          <p:nvPr/>
        </p:nvSpPr>
        <p:spPr>
          <a:xfrm>
            <a:off x="10454335" y="1225296"/>
            <a:ext cx="1234440" cy="41148"/>
          </a:xfrm>
          <a:prstGeom prst="rect">
            <a:avLst/>
          </a:prstGeom>
          <a:solidFill>
            <a:srgbClr val="128B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899855" y="1239012"/>
            <a:ext cx="1417320" cy="18288"/>
          </a:xfrm>
          <a:prstGeom prst="rect">
            <a:avLst/>
          </a:prstGeom>
          <a:solidFill>
            <a:srgbClr val="D5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06440" y="1572768"/>
            <a:ext cx="5879592" cy="4480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200"/>
              </a:spcAft>
            </a:pPr>
            <a:r>
              <a:rPr sz="1550" b="1" i="0">
                <a:solidFill>
                  <a:srgbClr val="102C50"/>
                </a:solidFill>
                <a:latin typeface="Tahoma"/>
                <a:ea typeface="Tahoma"/>
                <a:cs typeface="Tahoma"/>
              </a:rPr>
              <a:t>آلمان بدون خودرو</a:t>
            </a:r>
          </a:p>
          <a:p>
            <a:pPr rtl="1" algn="r">
              <a:spcBef>
                <a:spcPts val="100"/>
              </a:spcBef>
              <a:spcAft>
                <a:spcPts val="0"/>
              </a:spcAft>
            </a:pPr>
            <a:r>
              <a:rPr sz="1300" b="0" i="0">
                <a:solidFill>
                  <a:srgbClr val="222B36"/>
                </a:solidFill>
                <a:latin typeface="Tahoma"/>
                <a:ea typeface="Tahoma"/>
                <a:cs typeface="Tahoma"/>
              </a:rPr>
              <a:t>در اوایل دهه ۱۹۳۰ در آلمان به ازای هر ۵۰ نفر تنها یک خودرو وجود داشت؛ خودرو کالایی اشرافی بود و خیابان‌ها در تسخیر موتورسیکلت‌ها.</a:t>
            </a:r>
          </a:p>
          <a:p>
            <a:pPr rtl="1" algn="r">
              <a:spcBef>
                <a:spcPts val="1000"/>
              </a:spcBef>
              <a:spcAft>
                <a:spcPts val="200"/>
              </a:spcAft>
            </a:pPr>
            <a:r>
              <a:rPr sz="1550" b="1" i="0">
                <a:solidFill>
                  <a:srgbClr val="102C50"/>
                </a:solidFill>
                <a:latin typeface="Tahoma"/>
                <a:ea typeface="Tahoma"/>
                <a:cs typeface="Tahoma"/>
              </a:rPr>
              <a:t>قرارداد تاریخی</a:t>
            </a:r>
          </a:p>
          <a:p>
            <a:pPr rtl="1" algn="r">
              <a:spcBef>
                <a:spcPts val="100"/>
              </a:spcBef>
              <a:spcAft>
                <a:spcPts val="0"/>
              </a:spcAft>
            </a:pPr>
            <a:r>
              <a:rPr sz="1300" b="0" i="0">
                <a:solidFill>
                  <a:srgbClr val="222B36"/>
                </a:solidFill>
                <a:latin typeface="Tahoma"/>
                <a:ea typeface="Tahoma"/>
                <a:cs typeface="Tahoma"/>
              </a:rPr>
              <a:t>۲۲ ژوئن ۱۹۳۴ انجمن خودروسازان آلمان طراحی «خودروی مردم» را به دفتر مهندسی فریدیناند پورشه در اشتوتگارت سفارش داد؛ با سقف قیمت ۹۹۵ رایشس‌مارک.</a:t>
            </a:r>
          </a:p>
          <a:p>
            <a:pPr rtl="1" algn="r">
              <a:spcBef>
                <a:spcPts val="1000"/>
              </a:spcBef>
              <a:spcAft>
                <a:spcPts val="200"/>
              </a:spcAft>
            </a:pPr>
            <a:r>
              <a:rPr sz="1550" b="1" i="0">
                <a:solidFill>
                  <a:srgbClr val="102C50"/>
                </a:solidFill>
                <a:latin typeface="Tahoma"/>
                <a:ea typeface="Tahoma"/>
                <a:cs typeface="Tahoma"/>
              </a:rPr>
              <a:t>مشخصات هدف</a:t>
            </a:r>
          </a:p>
          <a:p>
            <a:pPr rtl="1" algn="r">
              <a:spcBef>
                <a:spcPts val="100"/>
              </a:spcBef>
              <a:spcAft>
                <a:spcPts val="0"/>
              </a:spcAft>
            </a:pPr>
            <a:r>
              <a:rPr sz="1300" b="0" i="0">
                <a:solidFill>
                  <a:srgbClr val="222B36"/>
                </a:solidFill>
                <a:latin typeface="Tahoma"/>
                <a:ea typeface="Tahoma"/>
                <a:cs typeface="Tahoma"/>
              </a:rPr>
              <a:t>چهار سرنشین، سرعت پایدار ۱۰۰ کیلومتر بر ساعت، مصرف حدود ۷ لیتر در ۱۰۰ کیلومتر، موتور خنک‌شونده با هوا برای حذف رادیاتور و کاهش هزینه.</a:t>
            </a:r>
          </a:p>
          <a:p>
            <a:pPr rtl="1" algn="r">
              <a:spcBef>
                <a:spcPts val="1000"/>
              </a:spcBef>
              <a:spcAft>
                <a:spcPts val="200"/>
              </a:spcAft>
            </a:pPr>
            <a:r>
              <a:rPr sz="1550" b="1" i="0">
                <a:solidFill>
                  <a:srgbClr val="102C50"/>
                </a:solidFill>
                <a:latin typeface="Tahoma"/>
                <a:ea typeface="Tahoma"/>
                <a:cs typeface="Tahoma"/>
              </a:rPr>
              <a:t>گره خوردن با سیاست</a:t>
            </a:r>
          </a:p>
          <a:p>
            <a:pPr rtl="1" algn="r">
              <a:spcBef>
                <a:spcPts val="100"/>
              </a:spcBef>
              <a:spcAft>
                <a:spcPts val="0"/>
              </a:spcAft>
            </a:pPr>
            <a:r>
              <a:rPr sz="1300" b="0" i="0">
                <a:solidFill>
                  <a:srgbClr val="222B36"/>
                </a:solidFill>
                <a:latin typeface="Tahoma"/>
                <a:ea typeface="Tahoma"/>
                <a:cs typeface="Tahoma"/>
              </a:rPr>
              <a:t>حکومت نازی طرح را با سازمان تبلیغاتی «نیرو از راه شادی» (KdF) پیوند زد و با طرح پس‌انداز هفتگی ۵ مارکی، آن به نماد وعده رفاه عمومی تبدیل شد.</a:t>
            </a:r>
          </a:p>
        </p:txBody>
      </p:sp>
      <p:pic>
        <p:nvPicPr>
          <p:cNvPr id="8" name="Picture 7" descr="porsche_portrait.jpg"/>
          <p:cNvPicPr>
            <a:picLocks noChangeAspect="1"/>
          </p:cNvPicPr>
          <p:nvPr/>
        </p:nvPicPr>
        <p:blipFill>
          <a:blip r:embed="rId2"/>
          <a:srcRect t="6871" b="6871"/>
          <a:stretch>
            <a:fillRect/>
          </a:stretch>
        </p:blipFill>
        <p:spPr>
          <a:xfrm>
            <a:off x="502920" y="1572768"/>
            <a:ext cx="2286000" cy="2697480"/>
          </a:xfrm>
          <a:prstGeom prst="rect">
            <a:avLst/>
          </a:prstGeom>
          <a:ln w="34925">
            <a:solidFill>
              <a:srgbClr val="FFFFFF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02920" y="431596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B7A"/>
                </a:solidFill>
                <a:latin typeface="Tahoma"/>
                <a:ea typeface="Tahoma"/>
                <a:cs typeface="Tahoma"/>
              </a:rPr>
              <a:t>فریدیناند پورشه، مهندس طراح بیتل</a:t>
            </a:r>
          </a:p>
        </p:txBody>
      </p:sp>
      <p:pic>
        <p:nvPicPr>
          <p:cNvPr id="10" name="Picture 9" descr="design_office.jpg"/>
          <p:cNvPicPr>
            <a:picLocks noChangeAspect="1"/>
          </p:cNvPicPr>
          <p:nvPr/>
        </p:nvPicPr>
        <p:blipFill>
          <a:blip r:embed="rId3"/>
          <a:srcRect l="12600" r="12600"/>
          <a:stretch>
            <a:fillRect/>
          </a:stretch>
        </p:blipFill>
        <p:spPr>
          <a:xfrm>
            <a:off x="2971800" y="1572768"/>
            <a:ext cx="2697480" cy="2697480"/>
          </a:xfrm>
          <a:prstGeom prst="rect">
            <a:avLst/>
          </a:prstGeom>
          <a:ln w="34925">
            <a:solidFill>
              <a:srgbClr val="FFFFFF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2971800" y="4315968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B7A"/>
                </a:solidFill>
                <a:latin typeface="Tahoma"/>
                <a:ea typeface="Tahoma"/>
                <a:cs typeface="Tahoma"/>
              </a:rPr>
              <a:t>دفتر طراحی پورشه در حال بررسی نقشه‌ها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892040"/>
            <a:ext cx="51663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1250" b="0" i="1">
                <a:solidFill>
                  <a:srgbClr val="5C6B7A"/>
                </a:solidFill>
                <a:latin typeface="Tahoma"/>
                <a:ea typeface="Tahoma"/>
                <a:cs typeface="Tahoma"/>
              </a:rPr>
              <a:t>نکته: پورشه پیش‌تر خودروهای مسابقه‌ای اتو یونیون و پروژه‌های دایملر-بنز را طراحی کرده بود؛ بیتل خلاصه تجربه سی‌ساله او بود.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62695" y="6437376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C6B7A"/>
                </a:solidFill>
                <a:latin typeface="Tahoma"/>
                <a:ea typeface="Tahoma"/>
                <a:cs typeface="Tahoma"/>
              </a:rPr>
              <a:t>تاریخچه فولکس‌واگن  |  ۱۹۳۷ تا امروز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00800"/>
            <a:ext cx="7315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28BDC"/>
                </a:solidFill>
                <a:latin typeface="Tahoma"/>
                <a:ea typeface="Tahoma"/>
                <a:cs typeface="Tahoma"/>
              </a:rPr>
              <a:t>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28BDC"/>
                </a:solidFill>
                <a:latin typeface="Tahoma"/>
                <a:ea typeface="Tahoma"/>
                <a:cs typeface="Tahoma"/>
              </a:rPr>
              <a:t>بخش یکم — ریشه‌ها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8585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81B33"/>
                </a:solidFill>
                <a:latin typeface="Tahoma"/>
                <a:ea typeface="Tahoma"/>
                <a:cs typeface="Tahoma"/>
              </a:rPr>
              <a:t>پورشه و پروتوتایپ‌های V1 تا V30</a:t>
            </a:r>
          </a:p>
        </p:txBody>
      </p:sp>
      <p:sp>
        <p:nvSpPr>
          <p:cNvPr id="5" name="Rectangle 4"/>
          <p:cNvSpPr/>
          <p:nvPr/>
        </p:nvSpPr>
        <p:spPr>
          <a:xfrm>
            <a:off x="10454335" y="1225296"/>
            <a:ext cx="1234440" cy="41148"/>
          </a:xfrm>
          <a:prstGeom prst="rect">
            <a:avLst/>
          </a:prstGeom>
          <a:solidFill>
            <a:srgbClr val="128B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899855" y="1239012"/>
            <a:ext cx="1417320" cy="18288"/>
          </a:xfrm>
          <a:prstGeom prst="rect">
            <a:avLst/>
          </a:prstGeom>
          <a:solidFill>
            <a:srgbClr val="D5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06440" y="1572768"/>
            <a:ext cx="5879592" cy="4480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200"/>
              </a:spcAft>
            </a:pPr>
            <a:r>
              <a:rPr sz="1550" b="1" i="0">
                <a:solidFill>
                  <a:srgbClr val="102C50"/>
                </a:solidFill>
                <a:latin typeface="Tahoma"/>
                <a:ea typeface="Tahoma"/>
                <a:cs typeface="Tahoma"/>
              </a:rPr>
              <a:t>نمونه‌های نخست</a:t>
            </a:r>
          </a:p>
          <a:p>
            <a:pPr rtl="1" algn="r">
              <a:spcBef>
                <a:spcPts val="100"/>
              </a:spcBef>
              <a:spcAft>
                <a:spcPts val="0"/>
              </a:spcAft>
            </a:pPr>
            <a:r>
              <a:rPr sz="1300" b="0" i="0">
                <a:solidFill>
                  <a:srgbClr val="222B36"/>
                </a:solidFill>
                <a:latin typeface="Tahoma"/>
                <a:ea typeface="Tahoma"/>
                <a:cs typeface="Tahoma"/>
              </a:rPr>
              <a:t>۱۹۳۵–۱۹۳۶: نمونه‌های V1 و V2 و سپس سری V3 (سی خودرو) در کارگاه اشتوتگارت ساخته و در جاده‌های آلمان آزمایش شدند.</a:t>
            </a:r>
          </a:p>
          <a:p>
            <a:pPr rtl="1" algn="r">
              <a:spcBef>
                <a:spcPts val="1000"/>
              </a:spcBef>
              <a:spcAft>
                <a:spcPts val="200"/>
              </a:spcAft>
            </a:pPr>
            <a:r>
              <a:rPr sz="1550" b="1" i="0">
                <a:solidFill>
                  <a:srgbClr val="102C50"/>
                </a:solidFill>
                <a:latin typeface="Tahoma"/>
                <a:ea typeface="Tahoma"/>
                <a:cs typeface="Tahoma"/>
              </a:rPr>
              <a:t>نوآوری‌های فنی</a:t>
            </a:r>
          </a:p>
          <a:p>
            <a:pPr rtl="1" algn="r">
              <a:spcBef>
                <a:spcPts val="100"/>
              </a:spcBef>
              <a:spcAft>
                <a:spcPts val="0"/>
              </a:spcAft>
            </a:pPr>
            <a:r>
              <a:rPr sz="1300" b="0" i="0">
                <a:solidFill>
                  <a:srgbClr val="222B36"/>
                </a:solidFill>
                <a:latin typeface="Tahoma"/>
                <a:ea typeface="Tahoma"/>
                <a:cs typeface="Tahoma"/>
              </a:rPr>
              <a:t>شاسی یکپارچه و سبک، موتور باکسر چهار سیلندر خنک‌شونده با هوا در عقب، تعلیق میله پیچشی و بدنه منحنی با مقاومت هوایی کم.</a:t>
            </a:r>
          </a:p>
          <a:p>
            <a:pPr rtl="1" algn="r">
              <a:spcBef>
                <a:spcPts val="1000"/>
              </a:spcBef>
              <a:spcAft>
                <a:spcPts val="200"/>
              </a:spcAft>
            </a:pPr>
            <a:r>
              <a:rPr sz="1550" b="1" i="0">
                <a:solidFill>
                  <a:srgbClr val="102C50"/>
                </a:solidFill>
                <a:latin typeface="Tahoma"/>
                <a:ea typeface="Tahoma"/>
                <a:cs typeface="Tahoma"/>
              </a:rPr>
              <a:t>آزمون بزرگ</a:t>
            </a:r>
          </a:p>
          <a:p>
            <a:pPr rtl="1" algn="r">
              <a:spcBef>
                <a:spcPts val="100"/>
              </a:spcBef>
              <a:spcAft>
                <a:spcPts val="0"/>
              </a:spcAft>
            </a:pPr>
            <a:r>
              <a:rPr sz="1300" b="0" i="0">
                <a:solidFill>
                  <a:srgbClr val="222B36"/>
                </a:solidFill>
                <a:latin typeface="Tahoma"/>
                <a:ea typeface="Tahoma"/>
                <a:cs typeface="Tahoma"/>
              </a:rPr>
              <a:t>تا ۱۹۳۷ ناوگان آزمایشی نزدیک به ۲٫۴ میلیون کیلومتر پیمود؛ هر ایراد ریز ثبت و بازطراحی شد.</a:t>
            </a:r>
          </a:p>
          <a:p>
            <a:pPr rtl="1" algn="r">
              <a:spcBef>
                <a:spcPts val="1000"/>
              </a:spcBef>
              <a:spcAft>
                <a:spcPts val="200"/>
              </a:spcAft>
            </a:pPr>
            <a:r>
              <a:rPr sz="1550" b="1" i="0">
                <a:solidFill>
                  <a:srgbClr val="102C50"/>
                </a:solidFill>
                <a:latin typeface="Tahoma"/>
                <a:ea typeface="Tahoma"/>
                <a:cs typeface="Tahoma"/>
              </a:rPr>
              <a:t>آماده برای انبوه</a:t>
            </a:r>
          </a:p>
          <a:p>
            <a:pPr rtl="1" algn="r">
              <a:spcBef>
                <a:spcPts val="100"/>
              </a:spcBef>
              <a:spcAft>
                <a:spcPts val="0"/>
              </a:spcAft>
            </a:pPr>
            <a:r>
              <a:rPr sz="1300" b="0" i="0">
                <a:solidFill>
                  <a:srgbClr val="222B36"/>
                </a:solidFill>
                <a:latin typeface="Tahoma"/>
                <a:ea typeface="Tahoma"/>
                <a:cs typeface="Tahoma"/>
              </a:rPr>
              <a:t>طرح نهایی با چراغ‌های گرد، گلگیرهای برجسته و شیشه عقب بیضی، الگویی شد که تا ۲۰۰۳ تقریباً بدون تغییر ماند.</a:t>
            </a:r>
          </a:p>
        </p:txBody>
      </p:sp>
      <p:pic>
        <p:nvPicPr>
          <p:cNvPr id="8" name="Picture 7" descr="proto_row.jpg"/>
          <p:cNvPicPr>
            <a:picLocks noChangeAspect="1"/>
          </p:cNvPicPr>
          <p:nvPr/>
        </p:nvPicPr>
        <p:blipFill>
          <a:blip r:embed="rId2"/>
          <a:srcRect l="3878" r="3878"/>
          <a:stretch>
            <a:fillRect/>
          </a:stretch>
        </p:blipFill>
        <p:spPr>
          <a:xfrm>
            <a:off x="502920" y="1572768"/>
            <a:ext cx="5166360" cy="2240280"/>
          </a:xfrm>
          <a:prstGeom prst="rect">
            <a:avLst/>
          </a:prstGeom>
          <a:ln w="34925">
            <a:solidFill>
              <a:srgbClr val="FFFFFF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02920" y="3858768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B7A"/>
                </a:solidFill>
                <a:latin typeface="Tahoma"/>
                <a:ea typeface="Tahoma"/>
                <a:cs typeface="Tahoma"/>
              </a:rPr>
              <a:t>ردیف پروتوتایپ‌های اولیه بیتل پیش از تولید انبوه</a:t>
            </a:r>
          </a:p>
        </p:txBody>
      </p:sp>
      <p:pic>
        <p:nvPicPr>
          <p:cNvPr id="10" name="Picture 9" descr="porsche_group.jpg"/>
          <p:cNvPicPr>
            <a:picLocks noChangeAspect="1"/>
          </p:cNvPicPr>
          <p:nvPr/>
        </p:nvPicPr>
        <p:blipFill>
          <a:blip r:embed="rId3"/>
          <a:srcRect t="20972" b="20972"/>
          <a:stretch>
            <a:fillRect/>
          </a:stretch>
        </p:blipFill>
        <p:spPr>
          <a:xfrm>
            <a:off x="502920" y="4206240"/>
            <a:ext cx="5166360" cy="1691640"/>
          </a:xfrm>
          <a:prstGeom prst="rect">
            <a:avLst/>
          </a:prstGeom>
          <a:ln w="34925">
            <a:solidFill>
              <a:srgbClr val="FFFFFF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502920" y="5943600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B7A"/>
                </a:solidFill>
                <a:latin typeface="Tahoma"/>
                <a:ea typeface="Tahoma"/>
                <a:cs typeface="Tahoma"/>
              </a:rPr>
              <a:t>پورشه و تیمش در کنار نمونه آزمایشی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2695" y="6437376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C6B7A"/>
                </a:solidFill>
                <a:latin typeface="Tahoma"/>
                <a:ea typeface="Tahoma"/>
                <a:cs typeface="Tahoma"/>
              </a:rPr>
              <a:t>تاریخچه فولکس‌واگن  |  ۱۹۳۷ تا امروز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00800"/>
            <a:ext cx="7315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28BDC"/>
                </a:solidFill>
                <a:latin typeface="Tahoma"/>
                <a:ea typeface="Tahoma"/>
                <a:cs typeface="Tahoma"/>
              </a:rPr>
              <a:t>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28BDC"/>
                </a:solidFill>
                <a:latin typeface="Tahoma"/>
                <a:ea typeface="Tahoma"/>
                <a:cs typeface="Tahoma"/>
              </a:rPr>
              <a:t>بخش دوم — تأسیس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8585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81B33"/>
                </a:solidFill>
                <a:latin typeface="Tahoma"/>
                <a:ea typeface="Tahoma"/>
                <a:cs typeface="Tahoma"/>
              </a:rPr>
              <a:t>تولد شرکت و سنگ‌بنای ولفسبورگ (۱۹۳۷–۱۹۳۸)</a:t>
            </a:r>
          </a:p>
        </p:txBody>
      </p:sp>
      <p:sp>
        <p:nvSpPr>
          <p:cNvPr id="5" name="Rectangle 4"/>
          <p:cNvSpPr/>
          <p:nvPr/>
        </p:nvSpPr>
        <p:spPr>
          <a:xfrm>
            <a:off x="10454335" y="1225296"/>
            <a:ext cx="1234440" cy="41148"/>
          </a:xfrm>
          <a:prstGeom prst="rect">
            <a:avLst/>
          </a:prstGeom>
          <a:solidFill>
            <a:srgbClr val="128B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899855" y="1239012"/>
            <a:ext cx="1417320" cy="18288"/>
          </a:xfrm>
          <a:prstGeom prst="rect">
            <a:avLst/>
          </a:prstGeom>
          <a:solidFill>
            <a:srgbClr val="D5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06440" y="1572768"/>
            <a:ext cx="5879592" cy="4480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200"/>
              </a:spcAft>
            </a:pPr>
            <a:r>
              <a:rPr sz="1550" b="1" i="0">
                <a:solidFill>
                  <a:srgbClr val="102C50"/>
                </a:solidFill>
                <a:latin typeface="Tahoma"/>
                <a:ea typeface="Tahoma"/>
                <a:cs typeface="Tahoma"/>
              </a:rPr>
              <a:t>۲۸ مه ۱۹۳۷</a:t>
            </a:r>
          </a:p>
          <a:p>
            <a:pPr rtl="1" algn="r">
              <a:spcBef>
                <a:spcPts val="100"/>
              </a:spcBef>
              <a:spcAft>
                <a:spcPts val="0"/>
              </a:spcAft>
            </a:pPr>
            <a:r>
              <a:rPr sz="1300" b="0" i="0">
                <a:solidFill>
                  <a:srgbClr val="222B36"/>
                </a:solidFill>
                <a:latin typeface="Tahoma"/>
                <a:ea typeface="Tahoma"/>
                <a:cs typeface="Tahoma"/>
              </a:rPr>
              <a:t>تأسیس «شرکت آماده‌سازی خودروی مردم آلمان» (Gezuvor) در برلین با سرمایه جبهه کارگری آلمان؛ آغاز رسمی تاریخ شرکت.</a:t>
            </a:r>
          </a:p>
          <a:p>
            <a:pPr rtl="1" algn="r">
              <a:spcBef>
                <a:spcPts val="1000"/>
              </a:spcBef>
              <a:spcAft>
                <a:spcPts val="200"/>
              </a:spcAft>
            </a:pPr>
            <a:r>
              <a:rPr sz="1550" b="1" i="0">
                <a:solidFill>
                  <a:srgbClr val="102C50"/>
                </a:solidFill>
                <a:latin typeface="Tahoma"/>
                <a:ea typeface="Tahoma"/>
                <a:cs typeface="Tahoma"/>
              </a:rPr>
              <a:t>۲۶ مه ۱۹۳۸</a:t>
            </a:r>
          </a:p>
          <a:p>
            <a:pPr rtl="1" algn="r">
              <a:spcBef>
                <a:spcPts val="100"/>
              </a:spcBef>
              <a:spcAft>
                <a:spcPts val="0"/>
              </a:spcAft>
            </a:pPr>
            <a:r>
              <a:rPr sz="1300" b="0" i="0">
                <a:solidFill>
                  <a:srgbClr val="222B36"/>
                </a:solidFill>
                <a:latin typeface="Tahoma"/>
                <a:ea typeface="Tahoma"/>
                <a:cs typeface="Tahoma"/>
              </a:rPr>
              <a:t>آدولف هیتلر سنگ‌بنای کارخانه غول‌پیکر را در فالرزلبن گذاشت؛ شهرک جدید «شهر خودروی KdF» نام گرفت که پس از جنگ «ولفسبورگ» شد.</a:t>
            </a:r>
          </a:p>
          <a:p>
            <a:pPr rtl="1" algn="r">
              <a:spcBef>
                <a:spcPts val="1000"/>
              </a:spcBef>
              <a:spcAft>
                <a:spcPts val="200"/>
              </a:spcAft>
            </a:pPr>
            <a:r>
              <a:rPr sz="1550" b="1" i="0">
                <a:solidFill>
                  <a:srgbClr val="102C50"/>
                </a:solidFill>
                <a:latin typeface="Tahoma"/>
                <a:ea typeface="Tahoma"/>
                <a:cs typeface="Tahoma"/>
              </a:rPr>
              <a:t>سپتامبر ۱۹۳۸</a:t>
            </a:r>
          </a:p>
          <a:p>
            <a:pPr rtl="1" algn="r">
              <a:spcBef>
                <a:spcPts val="100"/>
              </a:spcBef>
              <a:spcAft>
                <a:spcPts val="0"/>
              </a:spcAft>
            </a:pPr>
            <a:r>
              <a:rPr sz="1300" b="0" i="0">
                <a:solidFill>
                  <a:srgbClr val="222B36"/>
                </a:solidFill>
                <a:latin typeface="Tahoma"/>
                <a:ea typeface="Tahoma"/>
                <a:cs typeface="Tahoma"/>
              </a:rPr>
              <a:t>نام شرکت به Volkswagenwerk GmbH تغییر کرد و طرح پس‌انداز عمومی با نزدیک ۳۴۰ هزار خریدار «کارت بیتل» به اوج رسید.</a:t>
            </a:r>
          </a:p>
          <a:p>
            <a:pPr rtl="1" algn="r">
              <a:spcBef>
                <a:spcPts val="1000"/>
              </a:spcBef>
              <a:spcAft>
                <a:spcPts val="200"/>
              </a:spcAft>
            </a:pPr>
            <a:r>
              <a:rPr sz="1550" b="1" i="0">
                <a:solidFill>
                  <a:srgbClr val="102C50"/>
                </a:solidFill>
                <a:latin typeface="Tahoma"/>
                <a:ea typeface="Tahoma"/>
                <a:cs typeface="Tahoma"/>
              </a:rPr>
              <a:t>وعده‌ای که عملی نشد</a:t>
            </a:r>
          </a:p>
          <a:p>
            <a:pPr rtl="1" algn="r">
              <a:spcBef>
                <a:spcPts val="100"/>
              </a:spcBef>
              <a:spcAft>
                <a:spcPts val="0"/>
              </a:spcAft>
            </a:pPr>
            <a:r>
              <a:rPr sz="1300" b="0" i="0">
                <a:solidFill>
                  <a:srgbClr val="222B36"/>
                </a:solidFill>
                <a:latin typeface="Tahoma"/>
                <a:ea typeface="Tahoma"/>
                <a:cs typeface="Tahoma"/>
              </a:rPr>
              <a:t>با شروع جنگ در ۱۹۳۹، نه‌تنها هیچ‌یک از پس‌اندازکنندگان خودرویی تحویل نگرفتند، بلکه کارخانه целиком وارد اقتصاد جنگی شد.</a:t>
            </a:r>
          </a:p>
        </p:txBody>
      </p:sp>
      <p:pic>
        <p:nvPicPr>
          <p:cNvPr id="8" name="Picture 7" descr="foundation.jpg"/>
          <p:cNvPicPr>
            <a:picLocks noChangeAspect="1"/>
          </p:cNvPicPr>
          <p:nvPr/>
        </p:nvPicPr>
        <p:blipFill>
          <a:blip r:embed="rId2"/>
          <a:srcRect t="8581" b="8581"/>
          <a:stretch>
            <a:fillRect/>
          </a:stretch>
        </p:blipFill>
        <p:spPr>
          <a:xfrm>
            <a:off x="502920" y="1572768"/>
            <a:ext cx="2468880" cy="2697480"/>
          </a:xfrm>
          <a:prstGeom prst="rect">
            <a:avLst/>
          </a:prstGeom>
          <a:ln w="34925">
            <a:solidFill>
              <a:srgbClr val="FFFFFF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02920" y="4315968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B7A"/>
                </a:solidFill>
                <a:latin typeface="Tahoma"/>
                <a:ea typeface="Tahoma"/>
                <a:cs typeface="Tahoma"/>
              </a:rPr>
              <a:t>مراسم سنگ‌بنای کارخانه، ۱۹۳۸</a:t>
            </a:r>
          </a:p>
        </p:txBody>
      </p:sp>
      <p:pic>
        <p:nvPicPr>
          <p:cNvPr id="10" name="Picture 9" descr="foundation2.jpg"/>
          <p:cNvPicPr>
            <a:picLocks noChangeAspect="1"/>
          </p:cNvPicPr>
          <p:nvPr/>
        </p:nvPicPr>
        <p:blipFill>
          <a:blip r:embed="rId3"/>
          <a:srcRect l="24281" r="24281"/>
          <a:stretch>
            <a:fillRect/>
          </a:stretch>
        </p:blipFill>
        <p:spPr>
          <a:xfrm>
            <a:off x="3200400" y="1572768"/>
            <a:ext cx="2468880" cy="2697480"/>
          </a:xfrm>
          <a:prstGeom prst="rect">
            <a:avLst/>
          </a:prstGeom>
          <a:ln w="34925">
            <a:solidFill>
              <a:srgbClr val="FFFFFF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3200400" y="4315968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B7A"/>
                </a:solidFill>
                <a:latin typeface="Tahoma"/>
                <a:ea typeface="Tahoma"/>
                <a:cs typeface="Tahoma"/>
              </a:rPr>
              <a:t>نمایش خودروی KdF در مراسم افتتاحیه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892040"/>
            <a:ext cx="51663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1250" b="0" i="1">
                <a:solidFill>
                  <a:srgbClr val="5C6B7A"/>
                </a:solidFill>
                <a:latin typeface="Tahoma"/>
                <a:ea typeface="Tahoma"/>
                <a:cs typeface="Tahoma"/>
              </a:rPr>
              <a:t>نام KdF-Wagen را شخص هیتلر بر خودرو گذاشت؛ نامی که پس از جنگ جای خود را به «بیتل» (سوسک) داد.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62695" y="6437376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C6B7A"/>
                </a:solidFill>
                <a:latin typeface="Tahoma"/>
                <a:ea typeface="Tahoma"/>
                <a:cs typeface="Tahoma"/>
              </a:rPr>
              <a:t>تاریخچه فولکس‌واگن  |  ۱۹۳۷ تا امروز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00800"/>
            <a:ext cx="7315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28BDC"/>
                </a:solidFill>
                <a:latin typeface="Tahoma"/>
                <a:ea typeface="Tahoma"/>
                <a:cs typeface="Tahoma"/>
              </a:rPr>
              <a:t>05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28BDC"/>
                </a:solidFill>
                <a:latin typeface="Tahoma"/>
                <a:ea typeface="Tahoma"/>
                <a:cs typeface="Tahoma"/>
              </a:rPr>
              <a:t>بخش سوم — جنگ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8585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81B33"/>
                </a:solidFill>
                <a:latin typeface="Tahoma"/>
                <a:ea typeface="Tahoma"/>
                <a:cs typeface="Tahoma"/>
              </a:rPr>
              <a:t>کارخانه در خدمت جنگ و مسئولیت تاریخی</a:t>
            </a:r>
          </a:p>
        </p:txBody>
      </p:sp>
      <p:sp>
        <p:nvSpPr>
          <p:cNvPr id="5" name="Rectangle 4"/>
          <p:cNvSpPr/>
          <p:nvPr/>
        </p:nvSpPr>
        <p:spPr>
          <a:xfrm>
            <a:off x="10454335" y="1225296"/>
            <a:ext cx="1234440" cy="41148"/>
          </a:xfrm>
          <a:prstGeom prst="rect">
            <a:avLst/>
          </a:prstGeom>
          <a:solidFill>
            <a:srgbClr val="128B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899855" y="1239012"/>
            <a:ext cx="1417320" cy="18288"/>
          </a:xfrm>
          <a:prstGeom prst="rect">
            <a:avLst/>
          </a:prstGeom>
          <a:solidFill>
            <a:srgbClr val="D5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06440" y="1572768"/>
            <a:ext cx="5879592" cy="4480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200"/>
              </a:spcAft>
            </a:pPr>
            <a:r>
              <a:rPr sz="1550" b="1" i="0">
                <a:solidFill>
                  <a:srgbClr val="102C50"/>
                </a:solidFill>
                <a:latin typeface="Tahoma"/>
                <a:ea typeface="Tahoma"/>
                <a:cs typeface="Tahoma"/>
              </a:rPr>
              <a:t>اقتصاد جنگی</a:t>
            </a:r>
          </a:p>
          <a:p>
            <a:pPr rtl="1" algn="r">
              <a:spcBef>
                <a:spcPts val="100"/>
              </a:spcBef>
              <a:spcAft>
                <a:spcPts val="0"/>
              </a:spcAft>
            </a:pPr>
            <a:r>
              <a:rPr sz="1300" b="0" i="0">
                <a:solidFill>
                  <a:srgbClr val="222B36"/>
                </a:solidFill>
                <a:latin typeface="Tahoma"/>
                <a:ea typeface="Tahoma"/>
                <a:cs typeface="Tahoma"/>
              </a:rPr>
              <a:t>با آغاز جنگ در سپتامبر ۱۹۳۹ تولید خودروی مردم متوقف شد؛ کارخانه به ساخت خودروی نظامی، قطعات مین و بدنه بمب‌افکن و موشک V1 پرداخت.</a:t>
            </a:r>
          </a:p>
          <a:p>
            <a:pPr rtl="1" algn="r">
              <a:spcBef>
                <a:spcPts val="1000"/>
              </a:spcBef>
              <a:spcAft>
                <a:spcPts val="200"/>
              </a:spcAft>
            </a:pPr>
            <a:r>
              <a:rPr sz="1550" b="1" i="0">
                <a:solidFill>
                  <a:srgbClr val="102C50"/>
                </a:solidFill>
                <a:latin typeface="Tahoma"/>
                <a:ea typeface="Tahoma"/>
                <a:cs typeface="Tahoma"/>
              </a:rPr>
              <a:t>کار اجباری</a:t>
            </a:r>
          </a:p>
          <a:p>
            <a:pPr rtl="1" algn="r">
              <a:spcBef>
                <a:spcPts val="100"/>
              </a:spcBef>
              <a:spcAft>
                <a:spcPts val="0"/>
              </a:spcAft>
            </a:pPr>
            <a:r>
              <a:rPr sz="1300" b="0" i="0">
                <a:solidFill>
                  <a:srgbClr val="222B36"/>
                </a:solidFill>
                <a:latin typeface="Tahoma"/>
                <a:ea typeface="Tahoma"/>
                <a:cs typeface="Tahoma"/>
              </a:rPr>
              <a:t>نزدیک به ۲۰ هزار کارگر اجباری، اسیر جنگی و زندانی اردوگاه‌های کار اجباری — از جمله اردوگاه فرعی فالرزلبن وابسته به نوینگامه — در کارخانه به کار گرفته شدند.</a:t>
            </a:r>
          </a:p>
          <a:p>
            <a:pPr rtl="1" algn="r">
              <a:spcBef>
                <a:spcPts val="1000"/>
              </a:spcBef>
              <a:spcAft>
                <a:spcPts val="200"/>
              </a:spcAft>
            </a:pPr>
            <a:r>
              <a:rPr sz="1550" b="1" i="0">
                <a:solidFill>
                  <a:srgbClr val="102C50"/>
                </a:solidFill>
                <a:latin typeface="Tahoma"/>
                <a:ea typeface="Tahoma"/>
                <a:cs typeface="Tahoma"/>
              </a:rPr>
              <a:t>ویرانی</a:t>
            </a:r>
          </a:p>
          <a:p>
            <a:pPr rtl="1" algn="r">
              <a:spcBef>
                <a:spcPts val="100"/>
              </a:spcBef>
              <a:spcAft>
                <a:spcPts val="0"/>
              </a:spcAft>
            </a:pPr>
            <a:r>
              <a:rPr sz="1300" b="0" i="0">
                <a:solidFill>
                  <a:srgbClr val="222B36"/>
                </a:solidFill>
                <a:latin typeface="Tahoma"/>
                <a:ea typeface="Tahoma"/>
                <a:cs typeface="Tahoma"/>
              </a:rPr>
              <a:t>بمباران‌های متفقین در ۱۹۴۴–۱۹۴۵ بخش بزرگی از سالن‌ها و نیروگاه کارخانه را نابود کرد.</a:t>
            </a:r>
          </a:p>
          <a:p>
            <a:pPr rtl="1" algn="r">
              <a:spcBef>
                <a:spcPts val="1000"/>
              </a:spcBef>
              <a:spcAft>
                <a:spcPts val="200"/>
              </a:spcAft>
            </a:pPr>
            <a:r>
              <a:rPr sz="1550" b="1" i="0">
                <a:solidFill>
                  <a:srgbClr val="102C50"/>
                </a:solidFill>
                <a:latin typeface="Tahoma"/>
                <a:ea typeface="Tahoma"/>
                <a:cs typeface="Tahoma"/>
              </a:rPr>
              <a:t>پذیرش مسئولیت</a:t>
            </a:r>
          </a:p>
          <a:p>
            <a:pPr rtl="1" algn="r">
              <a:spcBef>
                <a:spcPts val="100"/>
              </a:spcBef>
              <a:spcAft>
                <a:spcPts val="0"/>
              </a:spcAft>
            </a:pPr>
            <a:r>
              <a:rPr sz="1300" b="0" i="0">
                <a:solidFill>
                  <a:srgbClr val="222B36"/>
                </a:solidFill>
                <a:latin typeface="Tahoma"/>
                <a:ea typeface="Tahoma"/>
                <a:cs typeface="Tahoma"/>
              </a:rPr>
              <a:t>پس از جنگ، شرکت این فصل تاریک را انکار نکرد؛ یادبود کار اجباری در محوطه کارخانه برپاست و پژوهش‌های تاریخی رسمی منتشر شده است.</a:t>
            </a:r>
          </a:p>
        </p:txBody>
      </p:sp>
      <p:pic>
        <p:nvPicPr>
          <p:cNvPr id="8" name="Picture 7" descr="forced_labor.jpg"/>
          <p:cNvPicPr>
            <a:picLocks noChangeAspect="1"/>
          </p:cNvPicPr>
          <p:nvPr/>
        </p:nvPicPr>
        <p:blipFill>
          <a:blip r:embed="rId2"/>
          <a:srcRect t="17226" b="17226"/>
          <a:stretch>
            <a:fillRect/>
          </a:stretch>
        </p:blipFill>
        <p:spPr>
          <a:xfrm>
            <a:off x="502920" y="1572768"/>
            <a:ext cx="5166360" cy="2240280"/>
          </a:xfrm>
          <a:prstGeom prst="rect">
            <a:avLst/>
          </a:prstGeom>
          <a:ln w="34925">
            <a:solidFill>
              <a:srgbClr val="FFFFFF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02920" y="3858768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B7A"/>
                </a:solidFill>
                <a:latin typeface="Tahoma"/>
                <a:ea typeface="Tahoma"/>
                <a:cs typeface="Tahoma"/>
              </a:rPr>
              <a:t>خط تولید جنگی کارخانه با کارگران اجباری، ۱۹۴۴–۴۵ (آرشیو یادبود نوینگامه)</a:t>
            </a:r>
          </a:p>
        </p:txBody>
      </p:sp>
      <p:pic>
        <p:nvPicPr>
          <p:cNvPr id="10" name="Picture 9" descr="factory_1940s.jpg"/>
          <p:cNvPicPr>
            <a:picLocks noChangeAspect="1"/>
          </p:cNvPicPr>
          <p:nvPr/>
        </p:nvPicPr>
        <p:blipFill>
          <a:blip r:embed="rId3"/>
          <a:srcRect t="20886" b="20886"/>
          <a:stretch>
            <a:fillRect/>
          </a:stretch>
        </p:blipFill>
        <p:spPr>
          <a:xfrm>
            <a:off x="502920" y="4206240"/>
            <a:ext cx="5166360" cy="1691640"/>
          </a:xfrm>
          <a:prstGeom prst="rect">
            <a:avLst/>
          </a:prstGeom>
          <a:ln w="34925">
            <a:solidFill>
              <a:srgbClr val="FFFFFF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502920" y="5943600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B7A"/>
                </a:solidFill>
                <a:latin typeface="Tahoma"/>
                <a:ea typeface="Tahoma"/>
                <a:cs typeface="Tahoma"/>
              </a:rPr>
              <a:t>سالن مونتاژ بدنه در سال‌های جنگ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2695" y="6437376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C6B7A"/>
                </a:solidFill>
                <a:latin typeface="Tahoma"/>
                <a:ea typeface="Tahoma"/>
                <a:cs typeface="Tahoma"/>
              </a:rPr>
              <a:t>تاریخچه فولکس‌واگن  |  ۱۹۳۷ تا امروز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00800"/>
            <a:ext cx="7315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28BDC"/>
                </a:solidFill>
                <a:latin typeface="Tahoma"/>
                <a:ea typeface="Tahoma"/>
                <a:cs typeface="Tahoma"/>
              </a:rPr>
              <a:t>06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28BDC"/>
                </a:solidFill>
                <a:latin typeface="Tahoma"/>
                <a:ea typeface="Tahoma"/>
                <a:cs typeface="Tahoma"/>
              </a:rPr>
              <a:t>بخش سوم — جنگ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8585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81B33"/>
                </a:solidFill>
                <a:latin typeface="Tahoma"/>
                <a:ea typeface="Tahoma"/>
                <a:cs typeface="Tahoma"/>
              </a:rPr>
              <a:t>کوبل‌واگن، شویم‌واگن و تیپ ۸۷</a:t>
            </a:r>
          </a:p>
        </p:txBody>
      </p:sp>
      <p:sp>
        <p:nvSpPr>
          <p:cNvPr id="5" name="Rectangle 4"/>
          <p:cNvSpPr/>
          <p:nvPr/>
        </p:nvSpPr>
        <p:spPr>
          <a:xfrm>
            <a:off x="10454335" y="1225296"/>
            <a:ext cx="1234440" cy="41148"/>
          </a:xfrm>
          <a:prstGeom prst="rect">
            <a:avLst/>
          </a:prstGeom>
          <a:solidFill>
            <a:srgbClr val="128B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899855" y="1239012"/>
            <a:ext cx="1417320" cy="18288"/>
          </a:xfrm>
          <a:prstGeom prst="rect">
            <a:avLst/>
          </a:prstGeom>
          <a:solidFill>
            <a:srgbClr val="D5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kubel.jpg"/>
          <p:cNvPicPr>
            <a:picLocks noChangeAspect="1"/>
          </p:cNvPicPr>
          <p:nvPr/>
        </p:nvPicPr>
        <p:blipFill>
          <a:blip r:embed="rId2"/>
          <a:srcRect t="12254" b="12254"/>
          <a:stretch>
            <a:fillRect/>
          </a:stretch>
        </p:blipFill>
        <p:spPr>
          <a:xfrm>
            <a:off x="502920" y="1572768"/>
            <a:ext cx="5166360" cy="2148840"/>
          </a:xfrm>
          <a:prstGeom prst="rect">
            <a:avLst/>
          </a:prstGeom>
          <a:ln w="34925">
            <a:solidFill>
              <a:srgbClr val="FFFFFF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02920" y="3767328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B7A"/>
                </a:solidFill>
                <a:latin typeface="Tahoma"/>
                <a:ea typeface="Tahoma"/>
                <a:cs typeface="Tahoma"/>
              </a:rPr>
              <a:t>کوبل‌واگن تیپ ۸۲؛ خودروی سبک همه‌جاروی ورماخت</a:t>
            </a:r>
          </a:p>
        </p:txBody>
      </p:sp>
      <p:pic>
        <p:nvPicPr>
          <p:cNvPr id="9" name="Picture 8" descr="schwimm.jpg"/>
          <p:cNvPicPr>
            <a:picLocks noChangeAspect="1"/>
          </p:cNvPicPr>
          <p:nvPr/>
        </p:nvPicPr>
        <p:blipFill>
          <a:blip r:embed="rId3"/>
          <a:srcRect t="26991" b="26991"/>
          <a:stretch>
            <a:fillRect/>
          </a:stretch>
        </p:blipFill>
        <p:spPr>
          <a:xfrm>
            <a:off x="502920" y="4114800"/>
            <a:ext cx="5166360" cy="1783080"/>
          </a:xfrm>
          <a:prstGeom prst="rect">
            <a:avLst/>
          </a:prstGeom>
          <a:ln w="34925">
            <a:solidFill>
              <a:srgbClr val="FFFFFF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502920" y="5943600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B7A"/>
                </a:solidFill>
                <a:latin typeface="Tahoma"/>
                <a:ea typeface="Tahoma"/>
                <a:cs typeface="Tahoma"/>
              </a:rPr>
              <a:t>شویم‌واگن تیپ ۱۶۶؛ خودروی آبی‌خاکی چهارچرخ محرک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06440" y="1572768"/>
            <a:ext cx="5879592" cy="4480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200"/>
              </a:spcAft>
            </a:pPr>
            <a:r>
              <a:rPr sz="1550" b="1" i="0">
                <a:solidFill>
                  <a:srgbClr val="102C50"/>
                </a:solidFill>
                <a:latin typeface="Tahoma"/>
                <a:ea typeface="Tahoma"/>
                <a:cs typeface="Tahoma"/>
              </a:rPr>
              <a:t>کوبل‌واگن تیپ ۸۲</a:t>
            </a:r>
          </a:p>
          <a:p>
            <a:pPr rtl="1" algn="r">
              <a:spcBef>
                <a:spcPts val="100"/>
              </a:spcBef>
              <a:spcAft>
                <a:spcPts val="0"/>
              </a:spcAft>
            </a:pPr>
            <a:r>
              <a:rPr sz="1300" b="0" i="0">
                <a:solidFill>
                  <a:srgbClr val="222B36"/>
                </a:solidFill>
                <a:latin typeface="Tahoma"/>
                <a:ea typeface="Tahoma"/>
                <a:cs typeface="Tahoma"/>
              </a:rPr>
              <a:t>حدود ۵۰ هزار دستگاه تولید شد؛ سبک، ساده و بی‌نهایت مطمئن — محبوب‌ترین خودروی سبک ارتش آلمان.</a:t>
            </a:r>
          </a:p>
          <a:p>
            <a:pPr rtl="1" algn="r">
              <a:spcBef>
                <a:spcPts val="1000"/>
              </a:spcBef>
              <a:spcAft>
                <a:spcPts val="200"/>
              </a:spcAft>
            </a:pPr>
            <a:r>
              <a:rPr sz="1550" b="1" i="0">
                <a:solidFill>
                  <a:srgbClr val="102C50"/>
                </a:solidFill>
                <a:latin typeface="Tahoma"/>
                <a:ea typeface="Tahoma"/>
                <a:cs typeface="Tahoma"/>
              </a:rPr>
              <a:t>شویم‌واگن تیپ ۱۶۶</a:t>
            </a:r>
          </a:p>
          <a:p>
            <a:pPr rtl="1" algn="r">
              <a:spcBef>
                <a:spcPts val="100"/>
              </a:spcBef>
              <a:spcAft>
                <a:spcPts val="0"/>
              </a:spcAft>
            </a:pPr>
            <a:r>
              <a:rPr sz="1300" b="0" i="0">
                <a:solidFill>
                  <a:srgbClr val="222B36"/>
                </a:solidFill>
                <a:latin typeface="Tahoma"/>
                <a:ea typeface="Tahoma"/>
                <a:cs typeface="Tahoma"/>
              </a:rPr>
              <a:t>حدود ۱۴ هزار دستگاه؛ بدنه قایقی، ملل تاشو و چهارچرخ محرک: پیشرفته‌ترین خودروی آبی‌خاکی سبک دوران خود.</a:t>
            </a:r>
          </a:p>
          <a:p>
            <a:pPr rtl="1" algn="r">
              <a:spcBef>
                <a:spcPts val="1000"/>
              </a:spcBef>
              <a:spcAft>
                <a:spcPts val="200"/>
              </a:spcAft>
            </a:pPr>
            <a:r>
              <a:rPr sz="1550" b="1" i="0">
                <a:solidFill>
                  <a:srgbClr val="102C50"/>
                </a:solidFill>
                <a:latin typeface="Tahoma"/>
                <a:ea typeface="Tahoma"/>
                <a:cs typeface="Tahoma"/>
              </a:rPr>
              <a:t>تیپ ۸۷ «کماندور»</a:t>
            </a:r>
          </a:p>
          <a:p>
            <a:pPr rtl="1" algn="r">
              <a:spcBef>
                <a:spcPts val="100"/>
              </a:spcBef>
              <a:spcAft>
                <a:spcPts val="0"/>
              </a:spcAft>
            </a:pPr>
            <a:r>
              <a:rPr sz="1300" b="0" i="0">
                <a:solidFill>
                  <a:srgbClr val="222B36"/>
                </a:solidFill>
                <a:latin typeface="Tahoma"/>
                <a:ea typeface="Tahoma"/>
                <a:cs typeface="Tahoma"/>
              </a:rPr>
              <a:t>نسخه چهارچرخ محرک بیتل برای شناسایی در برف و بیابان؛ نشان‌دهنده انعطاف پلتفرم.</a:t>
            </a:r>
          </a:p>
          <a:p>
            <a:pPr rtl="1" algn="r">
              <a:spcBef>
                <a:spcPts val="1000"/>
              </a:spcBef>
              <a:spcAft>
                <a:spcPts val="200"/>
              </a:spcAft>
            </a:pPr>
            <a:r>
              <a:rPr sz="1550" b="1" i="0">
                <a:solidFill>
                  <a:srgbClr val="102C50"/>
                </a:solidFill>
                <a:latin typeface="Tahoma"/>
                <a:ea typeface="Tahoma"/>
                <a:cs typeface="Tahoma"/>
              </a:rPr>
              <a:t>درس مهندسی</a:t>
            </a:r>
          </a:p>
          <a:p>
            <a:pPr rtl="1" algn="r">
              <a:spcBef>
                <a:spcPts val="100"/>
              </a:spcBef>
              <a:spcAft>
                <a:spcPts val="0"/>
              </a:spcAft>
            </a:pPr>
            <a:r>
              <a:rPr sz="1300" b="0" i="0">
                <a:solidFill>
                  <a:srgbClr val="222B36"/>
                </a:solidFill>
                <a:latin typeface="Tahoma"/>
                <a:ea typeface="Tahoma"/>
                <a:cs typeface="Tahoma"/>
              </a:rPr>
              <a:t>سادگی و دوام این خودروها پس از جنگ، اعتبار فنی برند را در بازارهای غیرنظامی تقویت کرد.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2695" y="6437376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C6B7A"/>
                </a:solidFill>
                <a:latin typeface="Tahoma"/>
                <a:ea typeface="Tahoma"/>
                <a:cs typeface="Tahoma"/>
              </a:rPr>
              <a:t>تاریخچه فولکس‌واگن  |  ۱۹۳۷ تا امروز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00800"/>
            <a:ext cx="7315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28BDC"/>
                </a:solidFill>
                <a:latin typeface="Tahoma"/>
                <a:ea typeface="Tahoma"/>
                <a:cs typeface="Tahoma"/>
              </a:rPr>
              <a:t>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28BDC"/>
                </a:solidFill>
                <a:latin typeface="Tahoma"/>
                <a:ea typeface="Tahoma"/>
                <a:cs typeface="Tahoma"/>
              </a:rPr>
              <a:t>بخش چهارم — نجات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8585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81B33"/>
                </a:solidFill>
                <a:latin typeface="Tahoma"/>
                <a:ea typeface="Tahoma"/>
                <a:cs typeface="Tahoma"/>
              </a:rPr>
              <a:t>۱۹۴۵: از ویرانه تا روشن‌ماندن خط تولید</a:t>
            </a:r>
          </a:p>
        </p:txBody>
      </p:sp>
      <p:sp>
        <p:nvSpPr>
          <p:cNvPr id="5" name="Rectangle 4"/>
          <p:cNvSpPr/>
          <p:nvPr/>
        </p:nvSpPr>
        <p:spPr>
          <a:xfrm>
            <a:off x="10454335" y="1225296"/>
            <a:ext cx="1234440" cy="41148"/>
          </a:xfrm>
          <a:prstGeom prst="rect">
            <a:avLst/>
          </a:prstGeom>
          <a:solidFill>
            <a:srgbClr val="128B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899855" y="1239012"/>
            <a:ext cx="1417320" cy="18288"/>
          </a:xfrm>
          <a:prstGeom prst="rect">
            <a:avLst/>
          </a:prstGeom>
          <a:solidFill>
            <a:srgbClr val="D5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06440" y="1572768"/>
            <a:ext cx="5879592" cy="4480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200"/>
              </a:spcAft>
            </a:pPr>
            <a:r>
              <a:rPr sz="1550" b="1" i="0">
                <a:solidFill>
                  <a:srgbClr val="102C50"/>
                </a:solidFill>
                <a:latin typeface="Tahoma"/>
                <a:ea typeface="Tahoma"/>
                <a:cs typeface="Tahoma"/>
              </a:rPr>
              <a:t>اشغال و واگذاری</a:t>
            </a:r>
          </a:p>
          <a:p>
            <a:pPr rtl="1" algn="r">
              <a:spcBef>
                <a:spcPts val="100"/>
              </a:spcBef>
              <a:spcAft>
                <a:spcPts val="0"/>
              </a:spcAft>
            </a:pPr>
            <a:r>
              <a:rPr sz="1300" b="0" i="0">
                <a:solidFill>
                  <a:srgbClr val="222B36"/>
                </a:solidFill>
                <a:latin typeface="Tahoma"/>
                <a:ea typeface="Tahoma"/>
                <a:cs typeface="Tahoma"/>
              </a:rPr>
              <a:t>آوریل ۱۹۴۵ ارتش آمریکا کارخانه را اشغال کرد و در ژوئن آن را به کنترل بریتانیا سپرد؛ سرنوشت شرکت بر سر دو راهی اوراق شدن یا احیا بود.</a:t>
            </a:r>
          </a:p>
          <a:p>
            <a:pPr rtl="1" algn="r">
              <a:spcBef>
                <a:spcPts val="1000"/>
              </a:spcBef>
              <a:spcAft>
                <a:spcPts val="200"/>
              </a:spcAft>
            </a:pPr>
            <a:r>
              <a:rPr sz="1550" b="1" i="0">
                <a:solidFill>
                  <a:srgbClr val="102C50"/>
                </a:solidFill>
                <a:latin typeface="Tahoma"/>
                <a:ea typeface="Tahoma"/>
                <a:cs typeface="Tahoma"/>
              </a:rPr>
              <a:t>سرگرد ایوان هرست</a:t>
            </a:r>
          </a:p>
          <a:p>
            <a:pPr rtl="1" algn="r">
              <a:spcBef>
                <a:spcPts val="100"/>
              </a:spcBef>
              <a:spcAft>
                <a:spcPts val="0"/>
              </a:spcAft>
            </a:pPr>
            <a:r>
              <a:rPr sz="1300" b="0" i="0">
                <a:solidFill>
                  <a:srgbClr val="222B36"/>
                </a:solidFill>
                <a:latin typeface="Tahoma"/>
                <a:ea typeface="Tahoma"/>
                <a:cs typeface="Tahoma"/>
              </a:rPr>
              <a:t>افسر مهندسی ارتش بریتانیا با سفارش ۲۰ هزار خودرو برای نیروهای اشغالگر، خط تولید را روشن نگه داشت و کارخانه را از اوراق نجات داد.</a:t>
            </a:r>
          </a:p>
          <a:p>
            <a:pPr rtl="1" algn="r">
              <a:spcBef>
                <a:spcPts val="1000"/>
              </a:spcBef>
              <a:spcAft>
                <a:spcPts val="200"/>
              </a:spcAft>
            </a:pPr>
            <a:r>
              <a:rPr sz="1550" b="1" i="0">
                <a:solidFill>
                  <a:srgbClr val="102C50"/>
                </a:solidFill>
                <a:latin typeface="Tahoma"/>
                <a:ea typeface="Tahoma"/>
                <a:cs typeface="Tahoma"/>
              </a:rPr>
              <a:t>آغاز دوباره</a:t>
            </a:r>
          </a:p>
          <a:p>
            <a:pPr rtl="1" algn="r">
              <a:spcBef>
                <a:spcPts val="100"/>
              </a:spcBef>
              <a:spcAft>
                <a:spcPts val="0"/>
              </a:spcAft>
            </a:pPr>
            <a:r>
              <a:rPr sz="1300" b="0" i="0">
                <a:solidFill>
                  <a:srgbClr val="222B36"/>
                </a:solidFill>
                <a:latin typeface="Tahoma"/>
                <a:ea typeface="Tahoma"/>
                <a:cs typeface="Tahoma"/>
              </a:rPr>
              <a:t>دسامبر ۱۹۴۵ تنها ۵۵ بیتل از خط بیرون آمد؛ تا پایان ۱۹۴۶ تولید به نزدیک هزار دستگاه در ماه رسید.</a:t>
            </a:r>
          </a:p>
          <a:p>
            <a:pPr rtl="1" algn="r">
              <a:spcBef>
                <a:spcPts val="1000"/>
              </a:spcBef>
              <a:spcAft>
                <a:spcPts val="200"/>
              </a:spcAft>
            </a:pPr>
            <a:r>
              <a:rPr sz="1550" b="1" i="0">
                <a:solidFill>
                  <a:srgbClr val="102C50"/>
                </a:solidFill>
                <a:latin typeface="Tahoma"/>
                <a:ea typeface="Tahoma"/>
                <a:cs typeface="Tahoma"/>
              </a:rPr>
              <a:t>تحویل به آلمان</a:t>
            </a:r>
          </a:p>
          <a:p>
            <a:pPr rtl="1" algn="r">
              <a:spcBef>
                <a:spcPts val="100"/>
              </a:spcBef>
              <a:spcAft>
                <a:spcPts val="0"/>
              </a:spcAft>
            </a:pPr>
            <a:r>
              <a:rPr sz="1300" b="0" i="0">
                <a:solidFill>
                  <a:srgbClr val="222B36"/>
                </a:solidFill>
                <a:latin typeface="Tahoma"/>
                <a:ea typeface="Tahoma"/>
                <a:cs typeface="Tahoma"/>
              </a:rPr>
              <a:t>۱۹۴۸ هرست مدیریت را به هاینریش نوردهوف سپرد؛ مدیری سخت‌گیر که بیتل را به نماد صادرات آلمان تبدیل کرد.</a:t>
            </a:r>
          </a:p>
        </p:txBody>
      </p:sp>
      <p:pic>
        <p:nvPicPr>
          <p:cNvPr id="8" name="Picture 7" descr="hirst.jpg"/>
          <p:cNvPicPr>
            <a:picLocks noChangeAspect="1"/>
          </p:cNvPicPr>
          <p:nvPr/>
        </p:nvPicPr>
        <p:blipFill>
          <a:blip r:embed="rId2"/>
          <a:srcRect t="9721" b="9721"/>
          <a:stretch>
            <a:fillRect/>
          </a:stretch>
        </p:blipFill>
        <p:spPr>
          <a:xfrm>
            <a:off x="502920" y="1572768"/>
            <a:ext cx="2377440" cy="2697480"/>
          </a:xfrm>
          <a:prstGeom prst="rect">
            <a:avLst/>
          </a:prstGeom>
          <a:ln w="34925">
            <a:solidFill>
              <a:srgbClr val="FFFFFF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02920" y="431596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B7A"/>
                </a:solidFill>
                <a:latin typeface="Tahoma"/>
                <a:ea typeface="Tahoma"/>
                <a:cs typeface="Tahoma"/>
              </a:rPr>
              <a:t>سرگرد ایوان هرست، نجات‌دهنده کارخانه</a:t>
            </a:r>
          </a:p>
        </p:txBody>
      </p:sp>
      <p:pic>
        <p:nvPicPr>
          <p:cNvPr id="10" name="Picture 9" descr="hirst_assembly.jpg"/>
          <p:cNvPicPr>
            <a:picLocks noChangeAspect="1"/>
          </p:cNvPicPr>
          <p:nvPr/>
        </p:nvPicPr>
        <p:blipFill>
          <a:blip r:embed="rId3"/>
          <a:srcRect l="19864" r="19864"/>
          <a:stretch>
            <a:fillRect/>
          </a:stretch>
        </p:blipFill>
        <p:spPr>
          <a:xfrm>
            <a:off x="3108960" y="1572768"/>
            <a:ext cx="2560320" cy="2697480"/>
          </a:xfrm>
          <a:prstGeom prst="rect">
            <a:avLst/>
          </a:prstGeom>
          <a:ln w="34925">
            <a:solidFill>
              <a:srgbClr val="FFFFFF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3108960" y="4315968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B7A"/>
                </a:solidFill>
                <a:latin typeface="Tahoma"/>
                <a:ea typeface="Tahoma"/>
                <a:cs typeface="Tahoma"/>
              </a:rPr>
              <a:t>مونتاژ نخستین بیتل‌های پس از جنگ، ۱۹۴۶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892040"/>
            <a:ext cx="51663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1250" b="0" i="1">
                <a:solidFill>
                  <a:srgbClr val="5C6B7A"/>
                </a:solidFill>
                <a:latin typeface="Tahoma"/>
                <a:ea typeface="Tahoma"/>
                <a:cs typeface="Tahoma"/>
              </a:rPr>
              <a:t>بریتانیا دو بار پیشنهاد واگذاری رایگان کارخانه را به خودروسازان بزرگ داد و هر دو بار پاسخ «نه» شنید؛ اشتباهی تاریخی به سود آلمان.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62695" y="6437376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C6B7A"/>
                </a:solidFill>
                <a:latin typeface="Tahoma"/>
                <a:ea typeface="Tahoma"/>
                <a:cs typeface="Tahoma"/>
              </a:rPr>
              <a:t>تاریخچه فولکس‌واگن  |  ۱۹۳۷ تا امروز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00800"/>
            <a:ext cx="7315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28BDC"/>
                </a:solidFill>
                <a:latin typeface="Tahoma"/>
                <a:ea typeface="Tahoma"/>
                <a:cs typeface="Tahoma"/>
              </a:rPr>
              <a:t>08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28BDC"/>
                </a:solidFill>
                <a:latin typeface="Tahoma"/>
                <a:ea typeface="Tahoma"/>
                <a:cs typeface="Tahoma"/>
              </a:rPr>
              <a:t>بخش پنجم — معجزه اقتصادی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8585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81B33"/>
                </a:solidFill>
                <a:latin typeface="Tahoma"/>
                <a:ea typeface="Tahoma"/>
                <a:cs typeface="Tahoma"/>
              </a:rPr>
              <a:t>بیتل برای جهان: صادرات و تولید انبوه</a:t>
            </a:r>
          </a:p>
        </p:txBody>
      </p:sp>
      <p:sp>
        <p:nvSpPr>
          <p:cNvPr id="5" name="Rectangle 4"/>
          <p:cNvSpPr/>
          <p:nvPr/>
        </p:nvSpPr>
        <p:spPr>
          <a:xfrm>
            <a:off x="10454335" y="1225296"/>
            <a:ext cx="1234440" cy="41148"/>
          </a:xfrm>
          <a:prstGeom prst="rect">
            <a:avLst/>
          </a:prstGeom>
          <a:solidFill>
            <a:srgbClr val="128B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899855" y="1239012"/>
            <a:ext cx="1417320" cy="18288"/>
          </a:xfrm>
          <a:prstGeom prst="rect">
            <a:avLst/>
          </a:prstGeom>
          <a:solidFill>
            <a:srgbClr val="D5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rodline_bw.jpg"/>
          <p:cNvPicPr>
            <a:picLocks noChangeAspect="1"/>
          </p:cNvPicPr>
          <p:nvPr/>
        </p:nvPicPr>
        <p:blipFill>
          <a:blip r:embed="rId2"/>
          <a:srcRect t="24131" b="24131"/>
          <a:stretch>
            <a:fillRect/>
          </a:stretch>
        </p:blipFill>
        <p:spPr>
          <a:xfrm>
            <a:off x="502920" y="1572768"/>
            <a:ext cx="5166360" cy="2148840"/>
          </a:xfrm>
          <a:prstGeom prst="rect">
            <a:avLst/>
          </a:prstGeom>
          <a:ln w="34925">
            <a:solidFill>
              <a:srgbClr val="FFFFFF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02920" y="3767328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B7A"/>
                </a:solidFill>
                <a:latin typeface="Tahoma"/>
                <a:ea typeface="Tahoma"/>
                <a:cs typeface="Tahoma"/>
              </a:rPr>
              <a:t>خط مونتاژ بیتل در ولفسبورگ، دهه ۱۹۵۰</a:t>
            </a:r>
          </a:p>
        </p:txBody>
      </p:sp>
      <p:pic>
        <p:nvPicPr>
          <p:cNvPr id="9" name="Picture 8" descr="prodline_bw2.jpg"/>
          <p:cNvPicPr>
            <a:picLocks noChangeAspect="1"/>
          </p:cNvPicPr>
          <p:nvPr/>
        </p:nvPicPr>
        <p:blipFill>
          <a:blip r:embed="rId3"/>
          <a:srcRect t="27041" b="27041"/>
          <a:stretch>
            <a:fillRect/>
          </a:stretch>
        </p:blipFill>
        <p:spPr>
          <a:xfrm>
            <a:off x="502920" y="4114800"/>
            <a:ext cx="5166360" cy="1783080"/>
          </a:xfrm>
          <a:prstGeom prst="rect">
            <a:avLst/>
          </a:prstGeom>
          <a:ln w="34925">
            <a:solidFill>
              <a:srgbClr val="FFFFFF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502920" y="5943600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B7A"/>
                </a:solidFill>
                <a:latin typeface="Tahoma"/>
                <a:ea typeface="Tahoma"/>
                <a:cs typeface="Tahoma"/>
              </a:rPr>
              <a:t>سالن بدنه‌سازی؛ ریتم تولید انبوه آلمانی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06440" y="1572768"/>
            <a:ext cx="5879592" cy="4480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200"/>
              </a:spcAft>
            </a:pPr>
            <a:r>
              <a:rPr sz="1550" b="1" i="0">
                <a:solidFill>
                  <a:srgbClr val="102C50"/>
                </a:solidFill>
                <a:latin typeface="Tahoma"/>
                <a:ea typeface="Tahoma"/>
                <a:cs typeface="Tahoma"/>
              </a:rPr>
              <a:t>۱۹۴۹</a:t>
            </a:r>
          </a:p>
          <a:p>
            <a:pPr rtl="1" algn="r">
              <a:spcBef>
                <a:spcPts val="100"/>
              </a:spcBef>
              <a:spcAft>
                <a:spcPts val="0"/>
              </a:spcAft>
            </a:pPr>
            <a:r>
              <a:rPr sz="1300" b="0" i="0">
                <a:solidFill>
                  <a:srgbClr val="222B36"/>
                </a:solidFill>
                <a:latin typeface="Tahoma"/>
                <a:ea typeface="Tahoma"/>
                <a:cs typeface="Tahoma"/>
              </a:rPr>
              <a:t>شرکت به دولت آلمان غربی سپرده شد و صادرات رسمی آغاز گردید؛ نخستین محموله به هلند رفت و همان سال شعبه آمریکا تأسیس شد.</a:t>
            </a:r>
          </a:p>
          <a:p>
            <a:pPr rtl="1" algn="r">
              <a:spcBef>
                <a:spcPts val="1000"/>
              </a:spcBef>
              <a:spcAft>
                <a:spcPts val="200"/>
              </a:spcAft>
            </a:pPr>
            <a:r>
              <a:rPr sz="1550" b="1" i="0">
                <a:solidFill>
                  <a:srgbClr val="102C50"/>
                </a:solidFill>
                <a:latin typeface="Tahoma"/>
                <a:ea typeface="Tahoma"/>
                <a:cs typeface="Tahoma"/>
              </a:rPr>
              <a:t>۱۹۵۰: بولی</a:t>
            </a:r>
          </a:p>
          <a:p>
            <a:pPr rtl="1" algn="r">
              <a:spcBef>
                <a:spcPts val="100"/>
              </a:spcBef>
              <a:spcAft>
                <a:spcPts val="0"/>
              </a:spcAft>
            </a:pPr>
            <a:r>
              <a:rPr sz="1300" b="0" i="0">
                <a:solidFill>
                  <a:srgbClr val="222B36"/>
                </a:solidFill>
                <a:latin typeface="Tahoma"/>
                <a:ea typeface="Tahoma"/>
                <a:cs typeface="Tahoma"/>
              </a:rPr>
              <a:t>فولکس‌واگن تیپ ۲ (ترانسپورتر/بولی) عرضه شد؛ ونی که بعدها نماد فرهنگ ون و سفرهای جاده‌ای شد.</a:t>
            </a:r>
          </a:p>
          <a:p>
            <a:pPr rtl="1" algn="r">
              <a:spcBef>
                <a:spcPts val="1000"/>
              </a:spcBef>
              <a:spcAft>
                <a:spcPts val="200"/>
              </a:spcAft>
            </a:pPr>
            <a:r>
              <a:rPr sz="1550" b="1" i="0">
                <a:solidFill>
                  <a:srgbClr val="102C50"/>
                </a:solidFill>
                <a:latin typeface="Tahoma"/>
                <a:ea typeface="Tahoma"/>
                <a:cs typeface="Tahoma"/>
              </a:rPr>
              <a:t>۱۹۵۵: یک میلیون</a:t>
            </a:r>
          </a:p>
          <a:p>
            <a:pPr rtl="1" algn="r">
              <a:spcBef>
                <a:spcPts val="100"/>
              </a:spcBef>
              <a:spcAft>
                <a:spcPts val="0"/>
              </a:spcAft>
            </a:pPr>
            <a:r>
              <a:rPr sz="1300" b="0" i="0">
                <a:solidFill>
                  <a:srgbClr val="222B36"/>
                </a:solidFill>
                <a:latin typeface="Tahoma"/>
                <a:ea typeface="Tahoma"/>
                <a:cs typeface="Tahoma"/>
              </a:rPr>
              <a:t>یک‌میلیونمین بیتل از خط خارج شد؛ در دهه ۱۹۶۰ بیتل پرفروش‌ترین خودروی وارداتی بازار آمریکا بود.</a:t>
            </a:r>
          </a:p>
          <a:p>
            <a:pPr rtl="1" algn="r">
              <a:spcBef>
                <a:spcPts val="1000"/>
              </a:spcBef>
              <a:spcAft>
                <a:spcPts val="200"/>
              </a:spcAft>
            </a:pPr>
            <a:r>
              <a:rPr sz="1550" b="1" i="0">
                <a:solidFill>
                  <a:srgbClr val="102C50"/>
                </a:solidFill>
                <a:latin typeface="Tahoma"/>
                <a:ea typeface="Tahoma"/>
                <a:cs typeface="Tahoma"/>
              </a:rPr>
              <a:t>شبکه جهانی</a:t>
            </a:r>
          </a:p>
          <a:p>
            <a:pPr rtl="1" algn="r">
              <a:spcBef>
                <a:spcPts val="100"/>
              </a:spcBef>
              <a:spcAft>
                <a:spcPts val="0"/>
              </a:spcAft>
            </a:pPr>
            <a:r>
              <a:rPr sz="1300" b="0" i="0">
                <a:solidFill>
                  <a:srgbClr val="222B36"/>
                </a:solidFill>
                <a:latin typeface="Tahoma"/>
                <a:ea typeface="Tahoma"/>
                <a:cs typeface="Tahoma"/>
              </a:rPr>
              <a:t>کارخانه‌های برزیل (۱۹۵۹)، مکزیک-پوئبلا (۱۹۶۷)، بلژیک، استرالیا و آفریقای جنوبی؛ بیتل به نماد «معجزه اقتصادی آلمان» بدل شد.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2695" y="6437376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C6B7A"/>
                </a:solidFill>
                <a:latin typeface="Tahoma"/>
                <a:ea typeface="Tahoma"/>
                <a:cs typeface="Tahoma"/>
              </a:rPr>
              <a:t>تاریخچه فولکس‌واگن  |  ۱۹۳۷ تا امروز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00800"/>
            <a:ext cx="7315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28BDC"/>
                </a:solidFill>
                <a:latin typeface="Tahoma"/>
                <a:ea typeface="Tahoma"/>
                <a:cs typeface="Tahoma"/>
              </a:rPr>
              <a:t>09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28BDC"/>
                </a:solidFill>
                <a:latin typeface="Tahoma"/>
                <a:ea typeface="Tahoma"/>
                <a:cs typeface="Tahoma"/>
              </a:rPr>
              <a:t>بخش ششم — برند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8585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81B33"/>
                </a:solidFill>
                <a:latin typeface="Tahoma"/>
                <a:ea typeface="Tahoma"/>
                <a:cs typeface="Tahoma"/>
              </a:rPr>
              <a:t>۱۹۵۹: کمپین «فکر کوچک» و انقلاب تبلیغات</a:t>
            </a:r>
          </a:p>
        </p:txBody>
      </p:sp>
      <p:sp>
        <p:nvSpPr>
          <p:cNvPr id="5" name="Rectangle 4"/>
          <p:cNvSpPr/>
          <p:nvPr/>
        </p:nvSpPr>
        <p:spPr>
          <a:xfrm>
            <a:off x="10454335" y="1225296"/>
            <a:ext cx="1234440" cy="41148"/>
          </a:xfrm>
          <a:prstGeom prst="rect">
            <a:avLst/>
          </a:prstGeom>
          <a:solidFill>
            <a:srgbClr val="128B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899855" y="1239012"/>
            <a:ext cx="1417320" cy="18288"/>
          </a:xfrm>
          <a:prstGeom prst="rect">
            <a:avLst/>
          </a:prstGeom>
          <a:solidFill>
            <a:srgbClr val="D5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hink_small.jpg"/>
          <p:cNvPicPr>
            <a:picLocks noChangeAspect="1"/>
          </p:cNvPicPr>
          <p:nvPr/>
        </p:nvPicPr>
        <p:blipFill>
          <a:blip r:embed="rId2"/>
          <a:srcRect t="1222" b="1222"/>
          <a:stretch>
            <a:fillRect/>
          </a:stretch>
        </p:blipFill>
        <p:spPr>
          <a:xfrm>
            <a:off x="502920" y="1572768"/>
            <a:ext cx="3108960" cy="3977639"/>
          </a:xfrm>
          <a:prstGeom prst="rect">
            <a:avLst/>
          </a:prstGeom>
          <a:ln w="34925">
            <a:solidFill>
              <a:srgbClr val="FFFFFF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02920" y="5596128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B7A"/>
                </a:solidFill>
                <a:latin typeface="Tahoma"/>
                <a:ea typeface="Tahoma"/>
                <a:cs typeface="Tahoma"/>
              </a:rPr>
              <a:t>آگهی تاریخی «Think Small» از آژانس DDB، ۱۹۵۹</a:t>
            </a:r>
          </a:p>
        </p:txBody>
      </p:sp>
      <p:pic>
        <p:nvPicPr>
          <p:cNvPr id="9" name="Picture 8" descr="think_small2.jpg"/>
          <p:cNvPicPr>
            <a:picLocks noChangeAspect="1"/>
          </p:cNvPicPr>
          <p:nvPr/>
        </p:nvPicPr>
        <p:blipFill>
          <a:blip r:embed="rId3"/>
          <a:srcRect l="20851" r="20851"/>
          <a:stretch>
            <a:fillRect/>
          </a:stretch>
        </p:blipFill>
        <p:spPr>
          <a:xfrm>
            <a:off x="3840480" y="1572768"/>
            <a:ext cx="1828800" cy="3977639"/>
          </a:xfrm>
          <a:prstGeom prst="rect">
            <a:avLst/>
          </a:prstGeom>
          <a:ln w="34925">
            <a:solidFill>
              <a:srgbClr val="FFFFFF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3840480" y="559612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B7A"/>
                </a:solidFill>
                <a:latin typeface="Tahoma"/>
                <a:ea typeface="Tahoma"/>
                <a:cs typeface="Tahoma"/>
              </a:rPr>
              <a:t>نسخه چاپی کمپین در مطبوعات آمریکا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06440" y="1572768"/>
            <a:ext cx="5879592" cy="4480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200"/>
              </a:spcAft>
            </a:pPr>
            <a:r>
              <a:rPr sz="1550" b="1" i="0">
                <a:solidFill>
                  <a:srgbClr val="102C50"/>
                </a:solidFill>
                <a:latin typeface="Tahoma"/>
                <a:ea typeface="Tahoma"/>
                <a:cs typeface="Tahoma"/>
              </a:rPr>
              <a:t>خلاف جریان</a:t>
            </a:r>
          </a:p>
          <a:p>
            <a:pPr rtl="1" algn="r">
              <a:spcBef>
                <a:spcPts val="100"/>
              </a:spcBef>
              <a:spcAft>
                <a:spcPts val="0"/>
              </a:spcAft>
            </a:pPr>
            <a:r>
              <a:rPr sz="1300" b="0" i="0">
                <a:solidFill>
                  <a:srgbClr val="222B36"/>
                </a:solidFill>
                <a:latin typeface="Tahoma"/>
                <a:ea typeface="Tahoma"/>
                <a:cs typeface="Tahoma"/>
              </a:rPr>
              <a:t>در آمریکای عاشق خودروهای غول‌پیکر، DDB نیویورک بیتل را با تیتر «کوچک فکر کنید» و تصویری کوچک در گوشه صفحه معرفی کرد.</a:t>
            </a:r>
          </a:p>
          <a:p>
            <a:pPr rtl="1" algn="r">
              <a:spcBef>
                <a:spcPts val="1000"/>
              </a:spcBef>
              <a:spcAft>
                <a:spcPts val="200"/>
              </a:spcAft>
            </a:pPr>
            <a:r>
              <a:rPr sz="1550" b="1" i="0">
                <a:solidFill>
                  <a:srgbClr val="102C50"/>
                </a:solidFill>
                <a:latin typeface="Tahoma"/>
                <a:ea typeface="Tahoma"/>
                <a:cs typeface="Tahoma"/>
              </a:rPr>
              <a:t>صداقت طنزآمیز</a:t>
            </a:r>
          </a:p>
          <a:p>
            <a:pPr rtl="1" algn="r">
              <a:spcBef>
                <a:spcPts val="100"/>
              </a:spcBef>
              <a:spcAft>
                <a:spcPts val="0"/>
              </a:spcAft>
            </a:pPr>
            <a:r>
              <a:rPr sz="1300" b="0" i="0">
                <a:solidFill>
                  <a:srgbClr val="222B36"/>
                </a:solidFill>
                <a:latin typeface="Tahoma"/>
                <a:ea typeface="Tahoma"/>
                <a:cs typeface="Tahoma"/>
              </a:rPr>
              <a:t>«لیموترش»، «بعد از چند سال هنوز شبیه خودش است»، «دیر یا زود، هزینه بنزین را پس می‌دهد»؛ تبلیغاتی که ضعف ظاهری را به شخصیت برند بدل کرد.</a:t>
            </a:r>
          </a:p>
          <a:p>
            <a:pPr rtl="1" algn="r">
              <a:spcBef>
                <a:spcPts val="1000"/>
              </a:spcBef>
              <a:spcAft>
                <a:spcPts val="200"/>
              </a:spcAft>
            </a:pPr>
            <a:r>
              <a:rPr sz="1550" b="1" i="0">
                <a:solidFill>
                  <a:srgbClr val="102C50"/>
                </a:solidFill>
                <a:latin typeface="Tahoma"/>
                <a:ea typeface="Tahoma"/>
                <a:cs typeface="Tahoma"/>
              </a:rPr>
              <a:t>اثر فرهنگی</a:t>
            </a:r>
          </a:p>
          <a:p>
            <a:pPr rtl="1" algn="r">
              <a:spcBef>
                <a:spcPts val="100"/>
              </a:spcBef>
              <a:spcAft>
                <a:spcPts val="0"/>
              </a:spcAft>
            </a:pPr>
            <a:r>
              <a:rPr sz="1300" b="0" i="0">
                <a:solidFill>
                  <a:srgbClr val="222B36"/>
                </a:solidFill>
                <a:latin typeface="Tahoma"/>
                <a:ea typeface="Tahoma"/>
                <a:cs typeface="Tahoma"/>
              </a:rPr>
              <a:t>بیتل خودروی روشنفکران، هنرمندان و دانشجویان شد و از کالای وارداتی به پدیده فرهنگی تبدیل گشت.</a:t>
            </a:r>
          </a:p>
          <a:p>
            <a:pPr rtl="1" algn="r">
              <a:spcBef>
                <a:spcPts val="1000"/>
              </a:spcBef>
              <a:spcAft>
                <a:spcPts val="200"/>
              </a:spcAft>
            </a:pPr>
            <a:r>
              <a:rPr sz="1550" b="1" i="0">
                <a:solidFill>
                  <a:srgbClr val="102C50"/>
                </a:solidFill>
                <a:latin typeface="Tahoma"/>
                <a:ea typeface="Tahoma"/>
                <a:cs typeface="Tahoma"/>
              </a:rPr>
              <a:t>میراث</a:t>
            </a:r>
          </a:p>
          <a:p>
            <a:pPr rtl="1" algn="r">
              <a:spcBef>
                <a:spcPts val="100"/>
              </a:spcBef>
              <a:spcAft>
                <a:spcPts val="0"/>
              </a:spcAft>
            </a:pPr>
            <a:r>
              <a:rPr sz="1300" b="0" i="0">
                <a:solidFill>
                  <a:srgbClr val="222B36"/>
                </a:solidFill>
                <a:latin typeface="Tahoma"/>
                <a:ea typeface="Tahoma"/>
                <a:cs typeface="Tahoma"/>
              </a:rPr>
              <a:t>این کمپین بارها «بهترین تبلیغ قرن بیستم» نامیده شده و هنوز در دانشکده‌های تبلیغات تدریس می‌شود.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2695" y="6437376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C6B7A"/>
                </a:solidFill>
                <a:latin typeface="Tahoma"/>
                <a:ea typeface="Tahoma"/>
                <a:cs typeface="Tahoma"/>
              </a:rPr>
              <a:t>تاریخچه فولکس‌واگن  |  ۱۹۳۷ تا امروز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00800"/>
            <a:ext cx="7315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28BDC"/>
                </a:solidFill>
                <a:latin typeface="Tahoma"/>
                <a:ea typeface="Tahoma"/>
                <a:cs typeface="Tahoma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28BDC"/>
                </a:solidFill>
                <a:latin typeface="Tahoma"/>
                <a:ea typeface="Tahoma"/>
                <a:cs typeface="Tahoma"/>
              </a:rPr>
              <a:t>بخش هفتم — خانواده محصولات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8585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81B33"/>
                </a:solidFill>
                <a:latin typeface="Tahoma"/>
                <a:ea typeface="Tahoma"/>
                <a:cs typeface="Tahoma"/>
              </a:rPr>
              <a:t>بولی، کارمان گیا، تیپ ۳ و تیپ ۴</a:t>
            </a:r>
          </a:p>
        </p:txBody>
      </p:sp>
      <p:sp>
        <p:nvSpPr>
          <p:cNvPr id="5" name="Rectangle 4"/>
          <p:cNvSpPr/>
          <p:nvPr/>
        </p:nvSpPr>
        <p:spPr>
          <a:xfrm>
            <a:off x="10454335" y="1225296"/>
            <a:ext cx="1234440" cy="41148"/>
          </a:xfrm>
          <a:prstGeom prst="rect">
            <a:avLst/>
          </a:prstGeom>
          <a:solidFill>
            <a:srgbClr val="128B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899855" y="1239012"/>
            <a:ext cx="1417320" cy="18288"/>
          </a:xfrm>
          <a:prstGeom prst="rect">
            <a:avLst/>
          </a:prstGeom>
          <a:solidFill>
            <a:srgbClr val="D5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bus_t1.jpg"/>
          <p:cNvPicPr>
            <a:picLocks noChangeAspect="1"/>
          </p:cNvPicPr>
          <p:nvPr/>
        </p:nvPicPr>
        <p:blipFill>
          <a:blip r:embed="rId2"/>
          <a:srcRect t="13356" b="13356"/>
          <a:stretch>
            <a:fillRect/>
          </a:stretch>
        </p:blipFill>
        <p:spPr>
          <a:xfrm>
            <a:off x="502920" y="1572768"/>
            <a:ext cx="3520440" cy="2103120"/>
          </a:xfrm>
          <a:prstGeom prst="rect">
            <a:avLst/>
          </a:prstGeom>
          <a:ln w="34925">
            <a:solidFill>
              <a:srgbClr val="FFFFFF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02920" y="3721608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B7A"/>
                </a:solidFill>
                <a:latin typeface="Tahoma"/>
                <a:ea typeface="Tahoma"/>
                <a:cs typeface="Tahoma"/>
              </a:rPr>
              <a:t>تیپ ۲ «سامبا»؛ ون افسانه‌ای ۲۳ پنجره</a:t>
            </a:r>
          </a:p>
        </p:txBody>
      </p:sp>
      <p:pic>
        <p:nvPicPr>
          <p:cNvPr id="9" name="Picture 8" descr="karmann.jpg"/>
          <p:cNvPicPr>
            <a:picLocks noChangeAspect="1"/>
          </p:cNvPicPr>
          <p:nvPr/>
        </p:nvPicPr>
        <p:blipFill>
          <a:blip r:embed="rId3"/>
          <a:srcRect t="10173" b="10173"/>
          <a:stretch>
            <a:fillRect/>
          </a:stretch>
        </p:blipFill>
        <p:spPr>
          <a:xfrm>
            <a:off x="4251959" y="1572768"/>
            <a:ext cx="3520440" cy="2103120"/>
          </a:xfrm>
          <a:prstGeom prst="rect">
            <a:avLst/>
          </a:prstGeom>
          <a:ln w="34925">
            <a:solidFill>
              <a:srgbClr val="FFFFFF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4251959" y="3721608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B7A"/>
                </a:solidFill>
                <a:latin typeface="Tahoma"/>
                <a:ea typeface="Tahoma"/>
                <a:cs typeface="Tahoma"/>
              </a:rPr>
              <a:t>کارمان گیا (۱۹۵۵)؛ بیتل در لباس کوپه ایتالیایی</a:t>
            </a:r>
          </a:p>
        </p:txBody>
      </p:sp>
      <p:pic>
        <p:nvPicPr>
          <p:cNvPr id="11" name="Picture 10" descr="type3.jpg"/>
          <p:cNvPicPr>
            <a:picLocks noChangeAspect="1"/>
          </p:cNvPicPr>
          <p:nvPr/>
        </p:nvPicPr>
        <p:blipFill>
          <a:blip r:embed="rId4"/>
          <a:srcRect t="12987" b="12987"/>
          <a:stretch>
            <a:fillRect/>
          </a:stretch>
        </p:blipFill>
        <p:spPr>
          <a:xfrm>
            <a:off x="502920" y="4160520"/>
            <a:ext cx="3520440" cy="1737360"/>
          </a:xfrm>
          <a:prstGeom prst="rect">
            <a:avLst/>
          </a:prstGeom>
          <a:ln w="34925">
            <a:solidFill>
              <a:srgbClr val="FFFFFF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502920" y="5943600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B7A"/>
                </a:solidFill>
                <a:latin typeface="Tahoma"/>
                <a:ea typeface="Tahoma"/>
                <a:cs typeface="Tahoma"/>
              </a:rPr>
              <a:t>تیپ ۳ فست‌بک (۱۹۶۱)</a:t>
            </a:r>
          </a:p>
        </p:txBody>
      </p:sp>
      <p:pic>
        <p:nvPicPr>
          <p:cNvPr id="13" name="Picture 12" descr="type3b.jpg"/>
          <p:cNvPicPr>
            <a:picLocks noChangeAspect="1"/>
          </p:cNvPicPr>
          <p:nvPr/>
        </p:nvPicPr>
        <p:blipFill>
          <a:blip r:embed="rId5"/>
          <a:srcRect t="12950" b="12950"/>
          <a:stretch>
            <a:fillRect/>
          </a:stretch>
        </p:blipFill>
        <p:spPr>
          <a:xfrm>
            <a:off x="4251959" y="4160520"/>
            <a:ext cx="3520440" cy="1737360"/>
          </a:xfrm>
          <a:prstGeom prst="rect">
            <a:avLst/>
          </a:prstGeom>
          <a:ln w="34925">
            <a:solidFill>
              <a:srgbClr val="FFFFFF"/>
            </a:solidFill>
          </a:ln>
        </p:spPr>
      </p:pic>
      <p:sp>
        <p:nvSpPr>
          <p:cNvPr id="14" name="TextBox 13"/>
          <p:cNvSpPr txBox="1"/>
          <p:nvPr/>
        </p:nvSpPr>
        <p:spPr>
          <a:xfrm>
            <a:off x="4251959" y="5943600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B7A"/>
                </a:solidFill>
                <a:latin typeface="Tahoma"/>
                <a:ea typeface="Tahoma"/>
                <a:cs typeface="Tahoma"/>
              </a:rPr>
              <a:t>تیپ ۳ سدان؛ جادارتر و آرام‌تر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56855" y="1572768"/>
            <a:ext cx="3931920" cy="4480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02C50"/>
                </a:solidFill>
                <a:latin typeface="Tahoma"/>
                <a:ea typeface="Tahoma"/>
                <a:cs typeface="Tahoma"/>
              </a:rPr>
              <a:t>تیپ ۲ (۱۹۵۰)</a:t>
            </a:r>
          </a:p>
          <a:p>
            <a:pPr rtl="1" algn="r">
              <a:spcBef>
                <a:spcPts val="0"/>
              </a:spcBef>
              <a:spcAft>
                <a:spcPts val="800"/>
              </a:spcAft>
            </a:pPr>
            <a:r>
              <a:rPr sz="1250" b="0" i="0">
                <a:solidFill>
                  <a:srgbClr val="222B36"/>
                </a:solidFill>
                <a:latin typeface="Tahoma"/>
                <a:ea typeface="Tahoma"/>
                <a:cs typeface="Tahoma"/>
              </a:rPr>
              <a:t>ون/میکروبوسی که نسل هیپی و سفر جاده‌ای را تعریف کرد؛ بیش از ۱۳ میلیون دستگاه در هفت نسل.</a:t>
            </a:r>
          </a:p>
          <a:p>
            <a:pPr rtl="1" algn="r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02C50"/>
                </a:solidFill>
                <a:latin typeface="Tahoma"/>
                <a:ea typeface="Tahoma"/>
                <a:cs typeface="Tahoma"/>
              </a:rPr>
              <a:t>کارمان گیا (۱۹۵۵)</a:t>
            </a:r>
          </a:p>
          <a:p>
            <a:pPr rtl="1" algn="r">
              <a:spcBef>
                <a:spcPts val="0"/>
              </a:spcBef>
              <a:spcAft>
                <a:spcPts val="800"/>
              </a:spcAft>
            </a:pPr>
            <a:r>
              <a:rPr sz="1250" b="0" i="0">
                <a:solidFill>
                  <a:srgbClr val="222B36"/>
                </a:solidFill>
                <a:latin typeface="Tahoma"/>
                <a:ea typeface="Tahoma"/>
                <a:cs typeface="Tahoma"/>
              </a:rPr>
              <a:t>طراحی کاروزری گیا (ایتالیا) و ساخت کارمان؛ کوپه‌ای که هرگز ادعای اسپرت بودن نداشت اما دل‌ها را برد.</a:t>
            </a:r>
          </a:p>
          <a:p>
            <a:pPr rtl="1" algn="r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02C50"/>
                </a:solidFill>
                <a:latin typeface="Tahoma"/>
                <a:ea typeface="Tahoma"/>
                <a:cs typeface="Tahoma"/>
              </a:rPr>
              <a:t>تیپ ۳ (۱۹۶۱) و تیپ ۴ (۱۹۶۸)</a:t>
            </a:r>
          </a:p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22B36"/>
                </a:solidFill>
                <a:latin typeface="Tahoma"/>
                <a:ea typeface="Tahoma"/>
                <a:cs typeface="Tahoma"/>
              </a:rPr>
              <a:t>با موتورهای ۱۵۰ و ۱۷۰۰ سانتی‌متر مکعب، پلی زدند از بیتلِ کوچک به خودروهای خانوادگی مدرن؛ تا آمدنِ عصر گلف.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62695" y="6437376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C6B7A"/>
                </a:solidFill>
                <a:latin typeface="Tahoma"/>
                <a:ea typeface="Tahoma"/>
                <a:cs typeface="Tahoma"/>
              </a:rPr>
              <a:t>تاریخچه فولکس‌واگن  |  ۱۹۳۷ تا امروز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00800"/>
            <a:ext cx="7315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28BDC"/>
                </a:solidFill>
                <a:latin typeface="Tahoma"/>
                <a:ea typeface="Tahoma"/>
                <a:cs typeface="Tahoma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28BDC"/>
                </a:solidFill>
                <a:latin typeface="Tahoma"/>
                <a:ea typeface="Tahoma"/>
                <a:cs typeface="Tahoma"/>
              </a:rPr>
              <a:t>بخش هشتم — گذار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8585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81B33"/>
                </a:solidFill>
                <a:latin typeface="Tahoma"/>
                <a:ea typeface="Tahoma"/>
                <a:cs typeface="Tahoma"/>
              </a:rPr>
              <a:t>بحران دهه ۷۰ و تولد گلف (۱۹۷۳–۱۹۷۶)</a:t>
            </a:r>
          </a:p>
        </p:txBody>
      </p:sp>
      <p:sp>
        <p:nvSpPr>
          <p:cNvPr id="5" name="Rectangle 4"/>
          <p:cNvSpPr/>
          <p:nvPr/>
        </p:nvSpPr>
        <p:spPr>
          <a:xfrm>
            <a:off x="10454335" y="1225296"/>
            <a:ext cx="1234440" cy="41148"/>
          </a:xfrm>
          <a:prstGeom prst="rect">
            <a:avLst/>
          </a:prstGeom>
          <a:solidFill>
            <a:srgbClr val="128B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899855" y="1239012"/>
            <a:ext cx="1417320" cy="18288"/>
          </a:xfrm>
          <a:prstGeom prst="rect">
            <a:avLst/>
          </a:prstGeom>
          <a:solidFill>
            <a:srgbClr val="D5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06440" y="1572768"/>
            <a:ext cx="5879592" cy="4480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200"/>
              </a:spcAft>
            </a:pPr>
            <a:r>
              <a:rPr sz="1550" b="1" i="0">
                <a:solidFill>
                  <a:srgbClr val="102C50"/>
                </a:solidFill>
                <a:latin typeface="Tahoma"/>
                <a:ea typeface="Tahoma"/>
                <a:cs typeface="Tahoma"/>
              </a:rPr>
              <a:t>پایان یک عصر</a:t>
            </a:r>
          </a:p>
          <a:p>
            <a:pPr rtl="1" algn="r">
              <a:spcBef>
                <a:spcPts val="100"/>
              </a:spcBef>
              <a:spcAft>
                <a:spcPts val="0"/>
              </a:spcAft>
            </a:pPr>
            <a:r>
              <a:rPr sz="1300" b="0" i="0">
                <a:solidFill>
                  <a:srgbClr val="222B36"/>
                </a:solidFill>
                <a:latin typeface="Tahoma"/>
                <a:ea typeface="Tahoma"/>
                <a:cs typeface="Tahoma"/>
              </a:rPr>
              <a:t>اوایل دهه ۱۹۷۰ فروش بیتل سقوط کرد؛ موتور عقب، طراحی قدیمی و بحران نفت ۱۹۷۳ شرکت را به لبه ورشکستگی رساند.</a:t>
            </a:r>
          </a:p>
          <a:p>
            <a:pPr rtl="1" algn="r">
              <a:spcBef>
                <a:spcPts val="1000"/>
              </a:spcBef>
              <a:spcAft>
                <a:spcPts val="200"/>
              </a:spcAft>
            </a:pPr>
            <a:r>
              <a:rPr sz="1550" b="1" i="0">
                <a:solidFill>
                  <a:srgbClr val="102C50"/>
                </a:solidFill>
                <a:latin typeface="Tahoma"/>
                <a:ea typeface="Tahoma"/>
                <a:cs typeface="Tahoma"/>
              </a:rPr>
              <a:t>مارس ۱۹۷۴: گلف</a:t>
            </a:r>
          </a:p>
          <a:p>
            <a:pPr rtl="1" algn="r">
              <a:spcBef>
                <a:spcPts val="100"/>
              </a:spcBef>
              <a:spcAft>
                <a:spcPts val="0"/>
              </a:spcAft>
            </a:pPr>
            <a:r>
              <a:rPr sz="1300" b="0" i="0">
                <a:solidFill>
                  <a:srgbClr val="222B36"/>
                </a:solidFill>
                <a:latin typeface="Tahoma"/>
                <a:ea typeface="Tahoma"/>
                <a:cs typeface="Tahoma"/>
              </a:rPr>
              <a:t>هاچ‌بک موتور جلو-دیفرانسیل جلو با طراحی جورجیارو عرضه شد؛ خودرویی که عملاً شرکت را نجات داد و الگوی نیمی از صنعت خودرو شد.</a:t>
            </a:r>
          </a:p>
          <a:p>
            <a:pPr rtl="1" algn="r">
              <a:spcBef>
                <a:spcPts val="1000"/>
              </a:spcBef>
              <a:spcAft>
                <a:spcPts val="200"/>
              </a:spcAft>
            </a:pPr>
            <a:r>
              <a:rPr sz="1550" b="1" i="0">
                <a:solidFill>
                  <a:srgbClr val="102C50"/>
                </a:solidFill>
                <a:latin typeface="Tahoma"/>
                <a:ea typeface="Tahoma"/>
                <a:cs typeface="Tahoma"/>
              </a:rPr>
              <a:t>پایان بیتل در ولفسبورگ</a:t>
            </a:r>
          </a:p>
          <a:p>
            <a:pPr rtl="1" algn="r">
              <a:spcBef>
                <a:spcPts val="100"/>
              </a:spcBef>
              <a:spcAft>
                <a:spcPts val="0"/>
              </a:spcAft>
            </a:pPr>
            <a:r>
              <a:rPr sz="1300" b="0" i="0">
                <a:solidFill>
                  <a:srgbClr val="222B36"/>
                </a:solidFill>
                <a:latin typeface="Tahoma"/>
                <a:ea typeface="Tahoma"/>
                <a:cs typeface="Tahoma"/>
              </a:rPr>
              <a:t>اوت ۱۹۷۴ خط بیتل در آلمان بسته و تولید به پوئبلا و برزیل منتقل شد؛ خط ولفسبورگ به گلف رسید.</a:t>
            </a:r>
          </a:p>
          <a:p>
            <a:pPr rtl="1" algn="r">
              <a:spcBef>
                <a:spcPts val="1000"/>
              </a:spcBef>
              <a:spcAft>
                <a:spcPts val="200"/>
              </a:spcAft>
            </a:pPr>
            <a:r>
              <a:rPr sz="1550" b="1" i="0">
                <a:solidFill>
                  <a:srgbClr val="102C50"/>
                </a:solidFill>
                <a:latin typeface="Tahoma"/>
                <a:ea typeface="Tahoma"/>
                <a:cs typeface="Tahoma"/>
              </a:rPr>
              <a:t>خانواده جدید</a:t>
            </a:r>
          </a:p>
          <a:p>
            <a:pPr rtl="1" algn="r">
              <a:spcBef>
                <a:spcPts val="100"/>
              </a:spcBef>
              <a:spcAft>
                <a:spcPts val="0"/>
              </a:spcAft>
            </a:pPr>
            <a:r>
              <a:rPr sz="1300" b="0" i="0">
                <a:solidFill>
                  <a:srgbClr val="222B36"/>
                </a:solidFill>
                <a:latin typeface="Tahoma"/>
                <a:ea typeface="Tahoma"/>
                <a:cs typeface="Tahoma"/>
              </a:rPr>
              <a:t>۱۹۷۵ پولو و ۱۹۷۶ جتا و گلف GTI عرضه شدند؛ ستون فقرات امروزی برند از همین سه‌گانه ساخته شد.</a:t>
            </a:r>
          </a:p>
        </p:txBody>
      </p:sp>
      <p:pic>
        <p:nvPicPr>
          <p:cNvPr id="8" name="Picture 7" descr="golf1.jpg"/>
          <p:cNvPicPr>
            <a:picLocks noChangeAspect="1"/>
          </p:cNvPicPr>
          <p:nvPr/>
        </p:nvPicPr>
        <p:blipFill>
          <a:blip r:embed="rId2"/>
          <a:srcRect t="18821" b="18821"/>
          <a:stretch>
            <a:fillRect/>
          </a:stretch>
        </p:blipFill>
        <p:spPr>
          <a:xfrm>
            <a:off x="502920" y="1572768"/>
            <a:ext cx="5166360" cy="2148840"/>
          </a:xfrm>
          <a:prstGeom prst="rect">
            <a:avLst/>
          </a:prstGeom>
          <a:ln w="34925">
            <a:solidFill>
              <a:srgbClr val="FFFFFF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02920" y="3767328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B7A"/>
                </a:solidFill>
                <a:latin typeface="Tahoma"/>
                <a:ea typeface="Tahoma"/>
                <a:cs typeface="Tahoma"/>
              </a:rPr>
              <a:t>گلف نسل یک (۱۹۷۴)؛ طراحی جورجیارو</a:t>
            </a:r>
          </a:p>
        </p:txBody>
      </p:sp>
      <p:pic>
        <p:nvPicPr>
          <p:cNvPr id="10" name="Picture 9" descr="golf_gti.jpg"/>
          <p:cNvPicPr>
            <a:picLocks noChangeAspect="1"/>
          </p:cNvPicPr>
          <p:nvPr/>
        </p:nvPicPr>
        <p:blipFill>
          <a:blip r:embed="rId3"/>
          <a:srcRect t="26991" b="26991"/>
          <a:stretch>
            <a:fillRect/>
          </a:stretch>
        </p:blipFill>
        <p:spPr>
          <a:xfrm>
            <a:off x="502920" y="4114800"/>
            <a:ext cx="5166360" cy="1783080"/>
          </a:xfrm>
          <a:prstGeom prst="rect">
            <a:avLst/>
          </a:prstGeom>
          <a:ln w="34925">
            <a:solidFill>
              <a:srgbClr val="FFFFFF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502920" y="5943600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B7A"/>
                </a:solidFill>
                <a:latin typeface="Tahoma"/>
                <a:ea typeface="Tahoma"/>
                <a:cs typeface="Tahoma"/>
              </a:rPr>
              <a:t>گلف GTI (۱۹۷۶)؛ مولد کلاس هاچ‌بک گرم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2695" y="6437376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C6B7A"/>
                </a:solidFill>
                <a:latin typeface="Tahoma"/>
                <a:ea typeface="Tahoma"/>
                <a:cs typeface="Tahoma"/>
              </a:rPr>
              <a:t>تاریخچه فولکس‌واگن  |  ۱۹۳۷ تا امروز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00800"/>
            <a:ext cx="7315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28BDC"/>
                </a:solidFill>
                <a:latin typeface="Tahoma"/>
                <a:ea typeface="Tahoma"/>
                <a:cs typeface="Tahoma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28BDC"/>
                </a:solidFill>
                <a:latin typeface="Tahoma"/>
                <a:ea typeface="Tahoma"/>
                <a:cs typeface="Tahoma"/>
              </a:rPr>
              <a:t>بخش هشتم — گذار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8585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81B33"/>
                </a:solidFill>
                <a:latin typeface="Tahoma"/>
                <a:ea typeface="Tahoma"/>
                <a:cs typeface="Tahoma"/>
              </a:rPr>
              <a:t>پاسات، پولو و سیروکو: خانواده کامل می‌شود</a:t>
            </a:r>
          </a:p>
        </p:txBody>
      </p:sp>
      <p:sp>
        <p:nvSpPr>
          <p:cNvPr id="5" name="Rectangle 4"/>
          <p:cNvSpPr/>
          <p:nvPr/>
        </p:nvSpPr>
        <p:spPr>
          <a:xfrm>
            <a:off x="10454335" y="1225296"/>
            <a:ext cx="1234440" cy="41148"/>
          </a:xfrm>
          <a:prstGeom prst="rect">
            <a:avLst/>
          </a:prstGeom>
          <a:solidFill>
            <a:srgbClr val="128B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899855" y="1239012"/>
            <a:ext cx="1417320" cy="18288"/>
          </a:xfrm>
          <a:prstGeom prst="rect">
            <a:avLst/>
          </a:prstGeom>
          <a:solidFill>
            <a:srgbClr val="D5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assat.jpg"/>
          <p:cNvPicPr>
            <a:picLocks noChangeAspect="1"/>
          </p:cNvPicPr>
          <p:nvPr/>
        </p:nvPicPr>
        <p:blipFill>
          <a:blip r:embed="rId2"/>
          <a:srcRect t="2058" b="2058"/>
          <a:stretch>
            <a:fillRect/>
          </a:stretch>
        </p:blipFill>
        <p:spPr>
          <a:xfrm>
            <a:off x="8112556" y="1572768"/>
            <a:ext cx="3576218" cy="2286000"/>
          </a:xfrm>
          <a:prstGeom prst="rect">
            <a:avLst/>
          </a:prstGeom>
          <a:ln w="34925">
            <a:solidFill>
              <a:srgbClr val="FFFFFF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8112556" y="3913632"/>
            <a:ext cx="357621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B7A"/>
                </a:solidFill>
                <a:latin typeface="Tahoma"/>
                <a:ea typeface="Tahoma"/>
                <a:cs typeface="Tahoma"/>
              </a:rPr>
              <a:t>پاسات B1 (۱۹۷۳): سدان/لیفت‌بک خانوادگی بر پایه آئودی ۸۰</a:t>
            </a:r>
          </a:p>
        </p:txBody>
      </p:sp>
      <p:pic>
        <p:nvPicPr>
          <p:cNvPr id="9" name="Picture 8" descr="polo.jpg"/>
          <p:cNvPicPr>
            <a:picLocks noChangeAspect="1"/>
          </p:cNvPicPr>
          <p:nvPr/>
        </p:nvPicPr>
        <p:blipFill>
          <a:blip r:embed="rId3"/>
          <a:srcRect l="4244" r="4244"/>
          <a:stretch>
            <a:fillRect/>
          </a:stretch>
        </p:blipFill>
        <p:spPr>
          <a:xfrm>
            <a:off x="4307738" y="1572768"/>
            <a:ext cx="3576218" cy="2286000"/>
          </a:xfrm>
          <a:prstGeom prst="rect">
            <a:avLst/>
          </a:prstGeom>
          <a:ln w="34925">
            <a:solidFill>
              <a:srgbClr val="FFFFFF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4307738" y="3913632"/>
            <a:ext cx="357621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B7A"/>
                </a:solidFill>
                <a:latin typeface="Tahoma"/>
                <a:ea typeface="Tahoma"/>
                <a:cs typeface="Tahoma"/>
              </a:rPr>
              <a:t>پولو (۱۹۷۵): اقتصادی‌ترین عضو خانواده، امروز با بیش از ۲۰ میلیون فروش</a:t>
            </a:r>
          </a:p>
        </p:txBody>
      </p:sp>
      <p:pic>
        <p:nvPicPr>
          <p:cNvPr id="11" name="Picture 10" descr="scirocco.jpg"/>
          <p:cNvPicPr>
            <a:picLocks noChangeAspect="1"/>
          </p:cNvPicPr>
          <p:nvPr/>
        </p:nvPicPr>
        <p:blipFill>
          <a:blip r:embed="rId4"/>
          <a:srcRect t="2010" b="2010"/>
          <a:stretch>
            <a:fillRect/>
          </a:stretch>
        </p:blipFill>
        <p:spPr>
          <a:xfrm>
            <a:off x="502920" y="1572768"/>
            <a:ext cx="3576218" cy="2286000"/>
          </a:xfrm>
          <a:prstGeom prst="rect">
            <a:avLst/>
          </a:prstGeom>
          <a:ln w="34925">
            <a:solidFill>
              <a:srgbClr val="FFFFFF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502920" y="3913632"/>
            <a:ext cx="357621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B7A"/>
                </a:solidFill>
                <a:latin typeface="Tahoma"/>
                <a:ea typeface="Tahoma"/>
                <a:cs typeface="Tahoma"/>
              </a:rPr>
              <a:t>سیروکو (۱۹۷۴): کوپه اسپرت جورجیارو، برادر چابک گلف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526280"/>
            <a:ext cx="11185855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222B36"/>
                </a:solidFill>
                <a:latin typeface="Tahoma"/>
                <a:ea typeface="Tahoma"/>
                <a:cs typeface="Tahoma"/>
              </a:rPr>
              <a:t>با این سه مدل، فولکس‌واگن برای هر قشری خودرو داشت: از شهرنشین اقتصادی تا خانواده مسافر تا راننده جوانِ اسپرت. تنوعی که ریسک تک‌محصولی بودنِ دوران بیتل را برای همیشه پایان داد.</a:t>
            </a:r>
          </a:p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22B36"/>
                </a:solidFill>
                <a:latin typeface="Tahoma"/>
                <a:ea typeface="Tahoma"/>
                <a:cs typeface="Tahoma"/>
              </a:rPr>
              <a:t>گلف GTI با ۱۱۰ اسب بخار و وزن زیر ۹۰۰ کیلوگرم، تعریف تازه‌ای از لذت رانندگی ارائه کرد و به پدیده‌ای جهانی تبدیل شد که هنوز پس از هشت نسل زنده است.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62695" y="6437376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C6B7A"/>
                </a:solidFill>
                <a:latin typeface="Tahoma"/>
                <a:ea typeface="Tahoma"/>
                <a:cs typeface="Tahoma"/>
              </a:rPr>
              <a:t>تاریخچه فولکس‌واگن  |  ۱۹۳۷ تا امروز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00800"/>
            <a:ext cx="7315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28BDC"/>
                </a:solidFill>
                <a:latin typeface="Tahoma"/>
                <a:ea typeface="Tahoma"/>
                <a:cs typeface="Tahoma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28BDC"/>
                </a:solidFill>
                <a:latin typeface="Tahoma"/>
                <a:ea typeface="Tahoma"/>
                <a:cs typeface="Tahoma"/>
              </a:rPr>
              <a:t>بخش نهم — جهانی‌شدن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8585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81B33"/>
                </a:solidFill>
                <a:latin typeface="Tahoma"/>
                <a:ea typeface="Tahoma"/>
                <a:cs typeface="Tahoma"/>
              </a:rPr>
              <a:t>مکزیک، برزیل و چین: سه قطب بزرگ</a:t>
            </a:r>
          </a:p>
        </p:txBody>
      </p:sp>
      <p:sp>
        <p:nvSpPr>
          <p:cNvPr id="5" name="Rectangle 4"/>
          <p:cNvSpPr/>
          <p:nvPr/>
        </p:nvSpPr>
        <p:spPr>
          <a:xfrm>
            <a:off x="10454335" y="1225296"/>
            <a:ext cx="1234440" cy="41148"/>
          </a:xfrm>
          <a:prstGeom prst="rect">
            <a:avLst/>
          </a:prstGeom>
          <a:solidFill>
            <a:srgbClr val="128B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899855" y="1239012"/>
            <a:ext cx="1417320" cy="18288"/>
          </a:xfrm>
          <a:prstGeom prst="rect">
            <a:avLst/>
          </a:prstGeom>
          <a:solidFill>
            <a:srgbClr val="D5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uebla.jpg"/>
          <p:cNvPicPr>
            <a:picLocks noChangeAspect="1"/>
          </p:cNvPicPr>
          <p:nvPr/>
        </p:nvPicPr>
        <p:blipFill>
          <a:blip r:embed="rId2"/>
          <a:srcRect t="18882" b="18882"/>
          <a:stretch>
            <a:fillRect/>
          </a:stretch>
        </p:blipFill>
        <p:spPr>
          <a:xfrm>
            <a:off x="502920" y="1572768"/>
            <a:ext cx="5166360" cy="2148840"/>
          </a:xfrm>
          <a:prstGeom prst="rect">
            <a:avLst/>
          </a:prstGeom>
          <a:ln w="34925">
            <a:solidFill>
              <a:srgbClr val="FFFFFF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02920" y="3767328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B7A"/>
                </a:solidFill>
                <a:latin typeface="Tahoma"/>
                <a:ea typeface="Tahoma"/>
                <a:cs typeface="Tahoma"/>
              </a:rPr>
              <a:t>کارخانه پوئبلای مکزیک؛ خانه بیتل تا ۲۰۰۳</a:t>
            </a:r>
          </a:p>
        </p:txBody>
      </p:sp>
      <p:pic>
        <p:nvPicPr>
          <p:cNvPr id="9" name="Picture 8" descr="china.jpg"/>
          <p:cNvPicPr>
            <a:picLocks noChangeAspect="1"/>
          </p:cNvPicPr>
          <p:nvPr/>
        </p:nvPicPr>
        <p:blipFill>
          <a:blip r:embed="rId3"/>
          <a:srcRect t="23542" b="23542"/>
          <a:stretch>
            <a:fillRect/>
          </a:stretch>
        </p:blipFill>
        <p:spPr>
          <a:xfrm>
            <a:off x="502920" y="4114800"/>
            <a:ext cx="5166360" cy="1783080"/>
          </a:xfrm>
          <a:prstGeom prst="rect">
            <a:avLst/>
          </a:prstGeom>
          <a:ln w="34925">
            <a:solidFill>
              <a:srgbClr val="FFFFFF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502920" y="5943600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B7A"/>
                </a:solidFill>
                <a:latin typeface="Tahoma"/>
                <a:ea typeface="Tahoma"/>
                <a:cs typeface="Tahoma"/>
              </a:rPr>
              <a:t>خط مونتاژ شانگهای فولکس‌واگن در چین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06440" y="1572768"/>
            <a:ext cx="5879592" cy="4480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200"/>
              </a:spcAft>
            </a:pPr>
            <a:r>
              <a:rPr sz="1550" b="1" i="0">
                <a:solidFill>
                  <a:srgbClr val="102C50"/>
                </a:solidFill>
                <a:latin typeface="Tahoma"/>
                <a:ea typeface="Tahoma"/>
                <a:cs typeface="Tahoma"/>
              </a:rPr>
              <a:t>مکزیک (۱۹۶۷)</a:t>
            </a:r>
          </a:p>
          <a:p>
            <a:pPr rtl="1" algn="r">
              <a:spcBef>
                <a:spcPts val="100"/>
              </a:spcBef>
              <a:spcAft>
                <a:spcPts val="0"/>
              </a:spcAft>
            </a:pPr>
            <a:r>
              <a:rPr sz="1300" b="0" i="0">
                <a:solidFill>
                  <a:srgbClr val="222B36"/>
                </a:solidFill>
                <a:latin typeface="Tahoma"/>
                <a:ea typeface="Tahoma"/>
                <a:cs typeface="Tahoma"/>
              </a:rPr>
              <a:t>کارخانه پوئبلا بیتل را تا ۲۰۰۳ ساخت و امروز قطب تولید تیگوآن و جتا برای آمریکای شمالی است.</a:t>
            </a:r>
          </a:p>
          <a:p>
            <a:pPr rtl="1" algn="r">
              <a:spcBef>
                <a:spcPts val="1000"/>
              </a:spcBef>
              <a:spcAft>
                <a:spcPts val="200"/>
              </a:spcAft>
            </a:pPr>
            <a:r>
              <a:rPr sz="1550" b="1" i="0">
                <a:solidFill>
                  <a:srgbClr val="102C50"/>
                </a:solidFill>
                <a:latin typeface="Tahoma"/>
                <a:ea typeface="Tahoma"/>
                <a:cs typeface="Tahoma"/>
              </a:rPr>
              <a:t>برزیل (۱۹۵۹)</a:t>
            </a:r>
          </a:p>
          <a:p>
            <a:pPr rtl="1" algn="r">
              <a:spcBef>
                <a:spcPts val="100"/>
              </a:spcBef>
              <a:spcAft>
                <a:spcPts val="0"/>
              </a:spcAft>
            </a:pPr>
            <a:r>
              <a:rPr sz="1300" b="0" i="0">
                <a:solidFill>
                  <a:srgbClr val="222B36"/>
                </a:solidFill>
                <a:latin typeface="Tahoma"/>
                <a:ea typeface="Tahoma"/>
                <a:cs typeface="Tahoma"/>
              </a:rPr>
              <a:t>نخستین کارخانه بزرگ خارج از آلمان؛ مدل بومی «گول» سال‌ها پرفروش‌ترین خودروی برزیل بود.</a:t>
            </a:r>
          </a:p>
          <a:p>
            <a:pPr rtl="1" algn="r">
              <a:spcBef>
                <a:spcPts val="1000"/>
              </a:spcBef>
              <a:spcAft>
                <a:spcPts val="200"/>
              </a:spcAft>
            </a:pPr>
            <a:r>
              <a:rPr sz="1550" b="1" i="0">
                <a:solidFill>
                  <a:srgbClr val="102C50"/>
                </a:solidFill>
                <a:latin typeface="Tahoma"/>
                <a:ea typeface="Tahoma"/>
                <a:cs typeface="Tahoma"/>
              </a:rPr>
              <a:t>چین (۱۹۸۴)</a:t>
            </a:r>
          </a:p>
          <a:p>
            <a:pPr rtl="1" algn="r">
              <a:spcBef>
                <a:spcPts val="100"/>
              </a:spcBef>
              <a:spcAft>
                <a:spcPts val="0"/>
              </a:spcAft>
            </a:pPr>
            <a:r>
              <a:rPr sz="1300" b="0" i="0">
                <a:solidFill>
                  <a:srgbClr val="222B36"/>
                </a:solidFill>
                <a:latin typeface="Tahoma"/>
                <a:ea typeface="Tahoma"/>
                <a:cs typeface="Tahoma"/>
              </a:rPr>
              <a:t>مشارکت شانگهای فولکس‌واگن نخستین سرمایه‌گذاری مشترک خودرویی چین بود؛ امروز چین بزرگ‌ترین بازار گروه است.</a:t>
            </a:r>
          </a:p>
          <a:p>
            <a:pPr rtl="1" algn="r">
              <a:spcBef>
                <a:spcPts val="1000"/>
              </a:spcBef>
              <a:spcAft>
                <a:spcPts val="200"/>
              </a:spcAft>
            </a:pPr>
            <a:r>
              <a:rPr sz="1550" b="1" i="0">
                <a:solidFill>
                  <a:srgbClr val="102C50"/>
                </a:solidFill>
                <a:latin typeface="Tahoma"/>
                <a:ea typeface="Tahoma"/>
                <a:cs typeface="Tahoma"/>
              </a:rPr>
              <a:t>آمریکای شمالی (۲۰۱۱)</a:t>
            </a:r>
          </a:p>
          <a:p>
            <a:pPr rtl="1" algn="r">
              <a:spcBef>
                <a:spcPts val="100"/>
              </a:spcBef>
              <a:spcAft>
                <a:spcPts val="0"/>
              </a:spcAft>
            </a:pPr>
            <a:r>
              <a:rPr sz="1300" b="0" i="0">
                <a:solidFill>
                  <a:srgbClr val="222B36"/>
                </a:solidFill>
                <a:latin typeface="Tahoma"/>
                <a:ea typeface="Tahoma"/>
                <a:cs typeface="Tahoma"/>
              </a:rPr>
              <a:t>کارخانه چاتانوگا برای SUVهای بزرگ؛ تلاشی برای جبران عقب‌ماندگی تاریخی در این بازار.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2695" y="6437376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C6B7A"/>
                </a:solidFill>
                <a:latin typeface="Tahoma"/>
                <a:ea typeface="Tahoma"/>
                <a:cs typeface="Tahoma"/>
              </a:rPr>
              <a:t>تاریخچه فولکس‌واگن  |  ۱۹۳۷ تا امروز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00800"/>
            <a:ext cx="7315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28BDC"/>
                </a:solidFill>
                <a:latin typeface="Tahoma"/>
                <a:ea typeface="Tahoma"/>
                <a:cs typeface="Tahoma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28BDC"/>
                </a:solidFill>
                <a:latin typeface="Tahoma"/>
                <a:ea typeface="Tahoma"/>
                <a:cs typeface="Tahoma"/>
              </a:rPr>
              <a:t>بخش نهم — جهانی‌شدن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8585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81B33"/>
                </a:solidFill>
                <a:latin typeface="Tahoma"/>
                <a:ea typeface="Tahoma"/>
                <a:cs typeface="Tahoma"/>
              </a:rPr>
              <a:t>امپراتوری برندها: گروه فولکس‌واگن</a:t>
            </a:r>
          </a:p>
        </p:txBody>
      </p:sp>
      <p:sp>
        <p:nvSpPr>
          <p:cNvPr id="5" name="Rectangle 4"/>
          <p:cNvSpPr/>
          <p:nvPr/>
        </p:nvSpPr>
        <p:spPr>
          <a:xfrm>
            <a:off x="10454335" y="1225296"/>
            <a:ext cx="1234440" cy="41148"/>
          </a:xfrm>
          <a:prstGeom prst="rect">
            <a:avLst/>
          </a:prstGeom>
          <a:solidFill>
            <a:srgbClr val="128B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899855" y="1239012"/>
            <a:ext cx="1417320" cy="18288"/>
          </a:xfrm>
          <a:prstGeom prst="rect">
            <a:avLst/>
          </a:prstGeom>
          <a:solidFill>
            <a:srgbClr val="D5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53735" y="1572768"/>
            <a:ext cx="6035040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200"/>
              </a:spcAft>
            </a:pPr>
            <a:r>
              <a:rPr sz="1550" b="1" i="0">
                <a:solidFill>
                  <a:srgbClr val="102C50"/>
                </a:solidFill>
                <a:latin typeface="Tahoma"/>
                <a:ea typeface="Tahoma"/>
                <a:cs typeface="Tahoma"/>
              </a:rPr>
              <a:t>۱۹۶۴–۱۹۶۵: آئودی</a:t>
            </a:r>
          </a:p>
          <a:p>
            <a:pPr rtl="1" algn="r">
              <a:spcBef>
                <a:spcPts val="100"/>
              </a:spcBef>
              <a:spcAft>
                <a:spcPts val="0"/>
              </a:spcAft>
            </a:pPr>
            <a:r>
              <a:rPr sz="1300" b="0" i="0">
                <a:solidFill>
                  <a:srgbClr val="222B36"/>
                </a:solidFill>
                <a:latin typeface="Tahoma"/>
                <a:ea typeface="Tahoma"/>
                <a:cs typeface="Tahoma"/>
              </a:rPr>
              <a:t>خرید سهام اتو یونیون از دایملر-بنز و احیای نام آئودی؛ ۱۹۶۹ ادغام با NSU و ۱۹۸۵ تثبیت برند آئودی امروزی.</a:t>
            </a:r>
          </a:p>
          <a:p>
            <a:pPr rtl="1" algn="r">
              <a:spcBef>
                <a:spcPts val="1000"/>
              </a:spcBef>
              <a:spcAft>
                <a:spcPts val="200"/>
              </a:spcAft>
            </a:pPr>
            <a:r>
              <a:rPr sz="1550" b="1" i="0">
                <a:solidFill>
                  <a:srgbClr val="102C50"/>
                </a:solidFill>
                <a:latin typeface="Tahoma"/>
                <a:ea typeface="Tahoma"/>
                <a:cs typeface="Tahoma"/>
              </a:rPr>
              <a:t>۱۹۸۶–۱۹۹۱: سئات و اسکودا</a:t>
            </a:r>
          </a:p>
          <a:p>
            <a:pPr rtl="1" algn="r">
              <a:spcBef>
                <a:spcPts val="100"/>
              </a:spcBef>
              <a:spcAft>
                <a:spcPts val="0"/>
              </a:spcAft>
            </a:pPr>
            <a:r>
              <a:rPr sz="1300" b="0" i="0">
                <a:solidFill>
                  <a:srgbClr val="222B36"/>
                </a:solidFill>
                <a:latin typeface="Tahoma"/>
                <a:ea typeface="Tahoma"/>
                <a:cs typeface="Tahoma"/>
              </a:rPr>
              <a:t>ورود به بازار اسپانیا با سئات و به اروپای مرکزی با اسکودا؛ دو برند حجمی-ارزشی گروه.</a:t>
            </a:r>
          </a:p>
          <a:p>
            <a:pPr rtl="1" algn="r">
              <a:spcBef>
                <a:spcPts val="1000"/>
              </a:spcBef>
              <a:spcAft>
                <a:spcPts val="200"/>
              </a:spcAft>
            </a:pPr>
            <a:r>
              <a:rPr sz="1550" b="1" i="0">
                <a:solidFill>
                  <a:srgbClr val="102C50"/>
                </a:solidFill>
                <a:latin typeface="Tahoma"/>
                <a:ea typeface="Tahoma"/>
                <a:cs typeface="Tahoma"/>
              </a:rPr>
              <a:t>۱۹۹۸: سال لوکس</a:t>
            </a:r>
          </a:p>
          <a:p>
            <a:pPr rtl="1" algn="r">
              <a:spcBef>
                <a:spcPts val="100"/>
              </a:spcBef>
              <a:spcAft>
                <a:spcPts val="0"/>
              </a:spcAft>
            </a:pPr>
            <a:r>
              <a:rPr sz="1300" b="0" i="0">
                <a:solidFill>
                  <a:srgbClr val="222B36"/>
                </a:solidFill>
                <a:latin typeface="Tahoma"/>
                <a:ea typeface="Tahoma"/>
                <a:cs typeface="Tahoma"/>
              </a:rPr>
              <a:t>خرید بنتلی، بوگاتی و لامبورگینی (زیرمجموعه آئودی)؛ ورود گروه به ابرخودرو و اولترا-لوکس.</a:t>
            </a:r>
          </a:p>
          <a:p>
            <a:pPr rtl="1" algn="r">
              <a:spcBef>
                <a:spcPts val="1000"/>
              </a:spcBef>
              <a:spcAft>
                <a:spcPts val="200"/>
              </a:spcAft>
            </a:pPr>
            <a:r>
              <a:rPr sz="1550" b="1" i="0">
                <a:solidFill>
                  <a:srgbClr val="102C50"/>
                </a:solidFill>
                <a:latin typeface="Tahoma"/>
                <a:ea typeface="Tahoma"/>
                <a:cs typeface="Tahoma"/>
              </a:rPr>
              <a:t>۲۰۰۹–۲۰۱۲: پورشه و دوکاتی</a:t>
            </a:r>
          </a:p>
          <a:p>
            <a:pPr rtl="1" algn="r">
              <a:spcBef>
                <a:spcPts val="100"/>
              </a:spcBef>
              <a:spcAft>
                <a:spcPts val="0"/>
              </a:spcAft>
            </a:pPr>
            <a:r>
              <a:rPr sz="1300" b="0" i="0">
                <a:solidFill>
                  <a:srgbClr val="222B36"/>
                </a:solidFill>
                <a:latin typeface="Tahoma"/>
                <a:ea typeface="Tahoma"/>
                <a:cs typeface="Tahoma"/>
              </a:rPr>
              <a:t>پس از نبرد تصاحب پرهیاهو، پورشه در گروه ادغام شد و دوکاتی به آئودی پیوست؛ به‌اضافه MAN و اسکانیا در بخش کامیون.</a:t>
            </a:r>
          </a:p>
        </p:txBody>
      </p:sp>
      <p:pic>
        <p:nvPicPr>
          <p:cNvPr id="8" name="Picture 7" descr="logo_building.jpg"/>
          <p:cNvPicPr>
            <a:picLocks noChangeAspect="1"/>
          </p:cNvPicPr>
          <p:nvPr/>
        </p:nvPicPr>
        <p:blipFill>
          <a:blip r:embed="rId2"/>
          <a:srcRect t="14092" b="14092"/>
          <a:stretch>
            <a:fillRect/>
          </a:stretch>
        </p:blipFill>
        <p:spPr>
          <a:xfrm>
            <a:off x="502920" y="1572768"/>
            <a:ext cx="4983480" cy="2377440"/>
          </a:xfrm>
          <a:prstGeom prst="rect">
            <a:avLst/>
          </a:prstGeom>
          <a:ln w="34925">
            <a:solidFill>
              <a:srgbClr val="FFFFFF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02920" y="3995928"/>
            <a:ext cx="4983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B7A"/>
                </a:solidFill>
                <a:latin typeface="Tahoma"/>
                <a:ea typeface="Tahoma"/>
                <a:cs typeface="Tahoma"/>
              </a:rPr>
              <a:t>نشان فولکس‌واگن بر ساختمان مرکزی ولفسبورگ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572000"/>
            <a:ext cx="1727149" cy="566928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4626864"/>
            <a:ext cx="172714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rtl="1" algn="c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02C50"/>
                </a:solidFill>
                <a:latin typeface="Tahoma"/>
                <a:ea typeface="Tahoma"/>
                <a:cs typeface="Tahoma"/>
              </a:rPr>
              <a:t>Volkswagen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94661" y="4572000"/>
            <a:ext cx="1727149" cy="566928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94661" y="4626864"/>
            <a:ext cx="172714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rtl="1" algn="c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02C50"/>
                </a:solidFill>
                <a:latin typeface="Tahoma"/>
                <a:ea typeface="Tahoma"/>
                <a:cs typeface="Tahoma"/>
              </a:rPr>
              <a:t>Audi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86402" y="4572000"/>
            <a:ext cx="1727149" cy="566928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86402" y="4626864"/>
            <a:ext cx="172714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rtl="1" algn="c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02C50"/>
                </a:solidFill>
                <a:latin typeface="Tahoma"/>
                <a:ea typeface="Tahoma"/>
                <a:cs typeface="Tahoma"/>
              </a:rPr>
              <a:t>Porsche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572000"/>
            <a:ext cx="1727149" cy="566928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8143" y="4626864"/>
            <a:ext cx="172714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rtl="1" algn="c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02C50"/>
                </a:solidFill>
                <a:latin typeface="Tahoma"/>
                <a:ea typeface="Tahoma"/>
                <a:cs typeface="Tahoma"/>
              </a:rPr>
              <a:t>Škoda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69884" y="4572000"/>
            <a:ext cx="1727149" cy="566928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69884" y="4626864"/>
            <a:ext cx="172714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rtl="1" algn="c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02C50"/>
                </a:solidFill>
                <a:latin typeface="Tahoma"/>
                <a:ea typeface="Tahoma"/>
                <a:cs typeface="Tahoma"/>
              </a:rPr>
              <a:t>SEAT / CUPRA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961626" y="4572000"/>
            <a:ext cx="1727149" cy="566928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61626" y="4626864"/>
            <a:ext cx="172714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rtl="1" algn="c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02C50"/>
                </a:solidFill>
                <a:latin typeface="Tahoma"/>
                <a:ea typeface="Tahoma"/>
                <a:cs typeface="Tahoma"/>
              </a:rPr>
              <a:t>Lamborghini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5285232"/>
            <a:ext cx="1727149" cy="566928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5340096"/>
            <a:ext cx="172714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rtl="1" algn="c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02C50"/>
                </a:solidFill>
                <a:latin typeface="Tahoma"/>
                <a:ea typeface="Tahoma"/>
                <a:cs typeface="Tahoma"/>
              </a:rPr>
              <a:t>Bentley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394661" y="5285232"/>
            <a:ext cx="1727149" cy="566928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394661" y="5340096"/>
            <a:ext cx="172714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rtl="1" algn="c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02C50"/>
                </a:solidFill>
                <a:latin typeface="Tahoma"/>
                <a:ea typeface="Tahoma"/>
                <a:cs typeface="Tahoma"/>
              </a:rPr>
              <a:t>Bugatti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86402" y="5285232"/>
            <a:ext cx="1727149" cy="566928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86402" y="5340096"/>
            <a:ext cx="172714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rtl="1" algn="c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02C50"/>
                </a:solidFill>
                <a:latin typeface="Tahoma"/>
                <a:ea typeface="Tahoma"/>
                <a:cs typeface="Tahoma"/>
              </a:rPr>
              <a:t>Ducati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78143" y="5285232"/>
            <a:ext cx="1727149" cy="566928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78143" y="5340096"/>
            <a:ext cx="172714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rtl="1" algn="c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02C50"/>
                </a:solidFill>
                <a:latin typeface="Tahoma"/>
                <a:ea typeface="Tahoma"/>
                <a:cs typeface="Tahoma"/>
              </a:rPr>
              <a:t>MAN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69884" y="5285232"/>
            <a:ext cx="1727149" cy="566928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69884" y="5340096"/>
            <a:ext cx="172714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rtl="1" algn="c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02C50"/>
                </a:solidFill>
                <a:latin typeface="Tahoma"/>
                <a:ea typeface="Tahoma"/>
                <a:cs typeface="Tahoma"/>
              </a:rPr>
              <a:t>Scania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961626" y="5285232"/>
            <a:ext cx="1727149" cy="566928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961626" y="5340096"/>
            <a:ext cx="172714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rtl="1" algn="c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02C50"/>
                </a:solidFill>
                <a:latin typeface="Tahoma"/>
                <a:ea typeface="Tahoma"/>
                <a:cs typeface="Tahoma"/>
              </a:rPr>
              <a:t>VW Commercial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053328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5C6B7A"/>
                </a:solidFill>
                <a:latin typeface="Tahoma"/>
                <a:ea typeface="Tahoma"/>
                <a:cs typeface="Tahoma"/>
              </a:rPr>
              <a:t>ده برند خودرویی + دو غول کامیون‌سازی؛ گروهی که تقریباً هر سلیقه‌ای از ۱۵ هزار تا ۳ میلیون یورو را پوشش می‌دهد.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62695" y="6437376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C6B7A"/>
                </a:solidFill>
                <a:latin typeface="Tahoma"/>
                <a:ea typeface="Tahoma"/>
                <a:cs typeface="Tahoma"/>
              </a:rPr>
              <a:t>تاریخچه فولکس‌واگن  |  ۱۹۳۷ تا امروز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400800"/>
            <a:ext cx="7315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28BDC"/>
                </a:solidFill>
                <a:latin typeface="Tahoma"/>
                <a:ea typeface="Tahoma"/>
                <a:cs typeface="Tahoma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28BDC"/>
                </a:solidFill>
                <a:latin typeface="Tahoma"/>
                <a:ea typeface="Tahoma"/>
                <a:cs typeface="Tahoma"/>
              </a:rPr>
              <a:t>بخش دهم — بلندپروازی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8585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81B33"/>
                </a:solidFill>
                <a:latin typeface="Tahoma"/>
                <a:ea typeface="Tahoma"/>
                <a:cs typeface="Tahoma"/>
              </a:rPr>
              <a:t>فایتون، توآرگ و کارخانه شیشه‌ای درسدن</a:t>
            </a:r>
          </a:p>
        </p:txBody>
      </p:sp>
      <p:sp>
        <p:nvSpPr>
          <p:cNvPr id="5" name="Rectangle 4"/>
          <p:cNvSpPr/>
          <p:nvPr/>
        </p:nvSpPr>
        <p:spPr>
          <a:xfrm>
            <a:off x="10454335" y="1225296"/>
            <a:ext cx="1234440" cy="41148"/>
          </a:xfrm>
          <a:prstGeom prst="rect">
            <a:avLst/>
          </a:prstGeom>
          <a:solidFill>
            <a:srgbClr val="128B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899855" y="1239012"/>
            <a:ext cx="1417320" cy="18288"/>
          </a:xfrm>
          <a:prstGeom prst="rect">
            <a:avLst/>
          </a:prstGeom>
          <a:solidFill>
            <a:srgbClr val="D5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haeton_factory.jpg"/>
          <p:cNvPicPr>
            <a:picLocks noChangeAspect="1"/>
          </p:cNvPicPr>
          <p:nvPr/>
        </p:nvPicPr>
        <p:blipFill>
          <a:blip r:embed="rId2"/>
          <a:srcRect t="18821" b="18821"/>
          <a:stretch>
            <a:fillRect/>
          </a:stretch>
        </p:blipFill>
        <p:spPr>
          <a:xfrm>
            <a:off x="502920" y="1572768"/>
            <a:ext cx="5166360" cy="2148840"/>
          </a:xfrm>
          <a:prstGeom prst="rect">
            <a:avLst/>
          </a:prstGeom>
          <a:ln w="34925">
            <a:solidFill>
              <a:srgbClr val="FFFFFF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02920" y="3767328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B7A"/>
                </a:solidFill>
                <a:latin typeface="Tahoma"/>
                <a:ea typeface="Tahoma"/>
                <a:cs typeface="Tahoma"/>
              </a:rPr>
              <a:t>«کارخانه شیشه‌ای» درسدن؛ مونتاژ دستی فایتون</a:t>
            </a:r>
          </a:p>
        </p:txBody>
      </p:sp>
      <p:pic>
        <p:nvPicPr>
          <p:cNvPr id="9" name="Picture 8" descr="phaeton.jpg"/>
          <p:cNvPicPr>
            <a:picLocks noChangeAspect="1"/>
          </p:cNvPicPr>
          <p:nvPr/>
        </p:nvPicPr>
        <p:blipFill>
          <a:blip r:embed="rId3"/>
          <a:srcRect t="24115" b="24115"/>
          <a:stretch>
            <a:fillRect/>
          </a:stretch>
        </p:blipFill>
        <p:spPr>
          <a:xfrm>
            <a:off x="502920" y="4114800"/>
            <a:ext cx="5166360" cy="1783080"/>
          </a:xfrm>
          <a:prstGeom prst="rect">
            <a:avLst/>
          </a:prstGeom>
          <a:ln w="34925">
            <a:solidFill>
              <a:srgbClr val="FFFFFF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502920" y="5943600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B7A"/>
                </a:solidFill>
                <a:latin typeface="Tahoma"/>
                <a:ea typeface="Tahoma"/>
                <a:cs typeface="Tahoma"/>
              </a:rPr>
              <a:t>فایتون W12؛ پرچم‌دار لوکس برند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06440" y="1572768"/>
            <a:ext cx="5879592" cy="4480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200"/>
              </a:spcAft>
            </a:pPr>
            <a:r>
              <a:rPr sz="1550" b="1" i="0">
                <a:solidFill>
                  <a:srgbClr val="102C50"/>
                </a:solidFill>
                <a:latin typeface="Tahoma"/>
                <a:ea typeface="Tahoma"/>
                <a:cs typeface="Tahoma"/>
              </a:rPr>
              <a:t>۲۰۰۲: فایتون</a:t>
            </a:r>
          </a:p>
          <a:p>
            <a:pPr rtl="1" algn="r">
              <a:spcBef>
                <a:spcPts val="100"/>
              </a:spcBef>
              <a:spcAft>
                <a:spcPts val="0"/>
              </a:spcAft>
            </a:pPr>
            <a:r>
              <a:rPr sz="1300" b="0" i="0">
                <a:solidFill>
                  <a:srgbClr val="222B36"/>
                </a:solidFill>
                <a:latin typeface="Tahoma"/>
                <a:ea typeface="Tahoma"/>
                <a:cs typeface="Tahoma"/>
              </a:rPr>
              <a:t>سدان دست‌ساز با موتور W12 برای رویارویی با مرسدس بنز S کلاس؛ مهندسی خیره‌کننده اما فروش ناچیز و زیان سنگین.</a:t>
            </a:r>
          </a:p>
          <a:p>
            <a:pPr rtl="1" algn="r">
              <a:spcBef>
                <a:spcPts val="1000"/>
              </a:spcBef>
              <a:spcAft>
                <a:spcPts val="200"/>
              </a:spcAft>
            </a:pPr>
            <a:r>
              <a:rPr sz="1550" b="1" i="0">
                <a:solidFill>
                  <a:srgbClr val="102C50"/>
                </a:solidFill>
                <a:latin typeface="Tahoma"/>
                <a:ea typeface="Tahoma"/>
                <a:cs typeface="Tahoma"/>
              </a:rPr>
              <a:t>۲۰۰۲: توآرگ</a:t>
            </a:r>
          </a:p>
          <a:p>
            <a:pPr rtl="1" algn="r">
              <a:spcBef>
                <a:spcPts val="100"/>
              </a:spcBef>
              <a:spcAft>
                <a:spcPts val="0"/>
              </a:spcAft>
            </a:pPr>
            <a:r>
              <a:rPr sz="1300" b="0" i="0">
                <a:solidFill>
                  <a:srgbClr val="222B36"/>
                </a:solidFill>
                <a:latin typeface="Tahoma"/>
                <a:ea typeface="Tahoma"/>
                <a:cs typeface="Tahoma"/>
              </a:rPr>
              <a:t>SUV پرچم‌دار با پلتفرم مشترک پورشه کاین؛ برنده سه دوره رالی داکار و اثبات توان فنی گروه.</a:t>
            </a:r>
          </a:p>
          <a:p>
            <a:pPr rtl="1" algn="r">
              <a:spcBef>
                <a:spcPts val="1000"/>
              </a:spcBef>
              <a:spcAft>
                <a:spcPts val="200"/>
              </a:spcAft>
            </a:pPr>
            <a:r>
              <a:rPr sz="1550" b="1" i="0">
                <a:solidFill>
                  <a:srgbClr val="102C50"/>
                </a:solidFill>
                <a:latin typeface="Tahoma"/>
                <a:ea typeface="Tahoma"/>
                <a:cs typeface="Tahoma"/>
              </a:rPr>
              <a:t>۲۰۰۰: آتواشتات</a:t>
            </a:r>
          </a:p>
          <a:p>
            <a:pPr rtl="1" algn="r">
              <a:spcBef>
                <a:spcPts val="100"/>
              </a:spcBef>
              <a:spcAft>
                <a:spcPts val="0"/>
              </a:spcAft>
            </a:pPr>
            <a:r>
              <a:rPr sz="1300" b="0" i="0">
                <a:solidFill>
                  <a:srgbClr val="222B36"/>
                </a:solidFill>
                <a:latin typeface="Tahoma"/>
                <a:ea typeface="Tahoma"/>
                <a:cs typeface="Tahoma"/>
              </a:rPr>
              <a:t>پارک تحویل خودرو در ولفسبورگ با برج‌های شیشه‌ای؛ سالانه میلیون‌ها بازدیدکننده.</a:t>
            </a:r>
          </a:p>
          <a:p>
            <a:pPr rtl="1" algn="r">
              <a:spcBef>
                <a:spcPts val="1000"/>
              </a:spcBef>
              <a:spcAft>
                <a:spcPts val="200"/>
              </a:spcAft>
            </a:pPr>
            <a:r>
              <a:rPr sz="1550" b="1" i="0">
                <a:solidFill>
                  <a:srgbClr val="102C50"/>
                </a:solidFill>
                <a:latin typeface="Tahoma"/>
                <a:ea typeface="Tahoma"/>
                <a:cs typeface="Tahoma"/>
              </a:rPr>
              <a:t>درس راهبردی</a:t>
            </a:r>
          </a:p>
          <a:p>
            <a:pPr rtl="1" algn="r">
              <a:spcBef>
                <a:spcPts val="100"/>
              </a:spcBef>
              <a:spcAft>
                <a:spcPts val="0"/>
              </a:spcAft>
            </a:pPr>
            <a:r>
              <a:rPr sz="1300" b="0" i="0">
                <a:solidFill>
                  <a:srgbClr val="222B36"/>
                </a:solidFill>
                <a:latin typeface="Tahoma"/>
                <a:ea typeface="Tahoma"/>
                <a:cs typeface="Tahoma"/>
              </a:rPr>
              <a:t>بلندپروازی لوکس پرهزینه بود، اما سقف مهندسی و وجهه برند را بالا برد و راه را برای آئودی و پورشه هموار کرد.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2695" y="6437376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C6B7A"/>
                </a:solidFill>
                <a:latin typeface="Tahoma"/>
                <a:ea typeface="Tahoma"/>
                <a:cs typeface="Tahoma"/>
              </a:rPr>
              <a:t>تاریخچه فولکس‌واگن  |  ۱۹۳۷ تا امروز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00800"/>
            <a:ext cx="7315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28BDC"/>
                </a:solidFill>
                <a:latin typeface="Tahoma"/>
                <a:ea typeface="Tahoma"/>
                <a:cs typeface="Tahoma"/>
              </a:rP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28BDC"/>
                </a:solidFill>
                <a:latin typeface="Tahoma"/>
                <a:ea typeface="Tahoma"/>
                <a:cs typeface="Tahoma"/>
              </a:rPr>
              <a:t>بخش یازدهم — نوستالژی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8585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81B33"/>
                </a:solidFill>
                <a:latin typeface="Tahoma"/>
                <a:ea typeface="Tahoma"/>
                <a:cs typeface="Tahoma"/>
              </a:rPr>
              <a:t>بیتل نو (۱۹۹۸) و پایان یک افسانه (۲۰۰۳)</a:t>
            </a:r>
          </a:p>
        </p:txBody>
      </p:sp>
      <p:sp>
        <p:nvSpPr>
          <p:cNvPr id="5" name="Rectangle 4"/>
          <p:cNvSpPr/>
          <p:nvPr/>
        </p:nvSpPr>
        <p:spPr>
          <a:xfrm>
            <a:off x="10454335" y="1225296"/>
            <a:ext cx="1234440" cy="41148"/>
          </a:xfrm>
          <a:prstGeom prst="rect">
            <a:avLst/>
          </a:prstGeom>
          <a:solidFill>
            <a:srgbClr val="128B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899855" y="1239012"/>
            <a:ext cx="1417320" cy="18288"/>
          </a:xfrm>
          <a:prstGeom prst="rect">
            <a:avLst/>
          </a:prstGeom>
          <a:solidFill>
            <a:srgbClr val="D5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newbeetle.jpg"/>
          <p:cNvPicPr>
            <a:picLocks noChangeAspect="1"/>
          </p:cNvPicPr>
          <p:nvPr/>
        </p:nvPicPr>
        <p:blipFill>
          <a:blip r:embed="rId2"/>
          <a:srcRect t="13039" b="13039"/>
          <a:stretch>
            <a:fillRect/>
          </a:stretch>
        </p:blipFill>
        <p:spPr>
          <a:xfrm>
            <a:off x="502920" y="1572768"/>
            <a:ext cx="5166360" cy="2148840"/>
          </a:xfrm>
          <a:prstGeom prst="rect">
            <a:avLst/>
          </a:prstGeom>
          <a:ln w="34925">
            <a:solidFill>
              <a:srgbClr val="FFFFFF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02920" y="3767328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B7A"/>
                </a:solidFill>
                <a:latin typeface="Tahoma"/>
                <a:ea typeface="Tahoma"/>
                <a:cs typeface="Tahoma"/>
              </a:rPr>
              <a:t>بیتل جدید (۱۹۹۸)؛ موج رترو در دیترویت و جهان</a:t>
            </a:r>
          </a:p>
        </p:txBody>
      </p:sp>
      <p:pic>
        <p:nvPicPr>
          <p:cNvPr id="9" name="Picture 8" descr="newbeetle2.jpg"/>
          <p:cNvPicPr>
            <a:picLocks noChangeAspect="1"/>
          </p:cNvPicPr>
          <p:nvPr/>
        </p:nvPicPr>
        <p:blipFill>
          <a:blip r:embed="rId3"/>
          <a:srcRect t="20562" b="20562"/>
          <a:stretch>
            <a:fillRect/>
          </a:stretch>
        </p:blipFill>
        <p:spPr>
          <a:xfrm>
            <a:off x="502920" y="4114800"/>
            <a:ext cx="5166360" cy="1783080"/>
          </a:xfrm>
          <a:prstGeom prst="rect">
            <a:avLst/>
          </a:prstGeom>
          <a:ln w="34925">
            <a:solidFill>
              <a:srgbClr val="FFFFFF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502920" y="5943600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B7A"/>
                </a:solidFill>
                <a:latin typeface="Tahoma"/>
                <a:ea typeface="Tahoma"/>
                <a:cs typeface="Tahoma"/>
              </a:rPr>
              <a:t>نسل سوم بیتل مدرن (۲۰۱۱–۲۰۱۹)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06440" y="1572768"/>
            <a:ext cx="5879592" cy="4480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200"/>
              </a:spcAft>
            </a:pPr>
            <a:r>
              <a:rPr sz="1550" b="1" i="0">
                <a:solidFill>
                  <a:srgbClr val="102C50"/>
                </a:solidFill>
                <a:latin typeface="Tahoma"/>
                <a:ea typeface="Tahoma"/>
                <a:cs typeface="Tahoma"/>
              </a:rPr>
              <a:t>۱۹۹۸: بازگشت نماد</a:t>
            </a:r>
          </a:p>
          <a:p>
            <a:pPr rtl="1" algn="r">
              <a:spcBef>
                <a:spcPts val="100"/>
              </a:spcBef>
              <a:spcAft>
                <a:spcPts val="0"/>
              </a:spcAft>
            </a:pPr>
            <a:r>
              <a:rPr sz="1300" b="0" i="0">
                <a:solidFill>
                  <a:srgbClr val="222B36"/>
                </a:solidFill>
                <a:latin typeface="Tahoma"/>
                <a:ea typeface="Tahoma"/>
                <a:cs typeface="Tahoma"/>
              </a:rPr>
              <a:t>«بیتل جدید» با طراحی رترو و گلدان گل روی داشبورد، موج نوستالژی جهانی به راه انداخت.</a:t>
            </a:r>
          </a:p>
          <a:p>
            <a:pPr rtl="1" algn="r">
              <a:spcBef>
                <a:spcPts val="1000"/>
              </a:spcBef>
              <a:spcAft>
                <a:spcPts val="200"/>
              </a:spcAft>
            </a:pPr>
            <a:r>
              <a:rPr sz="1550" b="1" i="0">
                <a:solidFill>
                  <a:srgbClr val="102C50"/>
                </a:solidFill>
                <a:latin typeface="Tahoma"/>
                <a:ea typeface="Tahoma"/>
                <a:cs typeface="Tahoma"/>
              </a:rPr>
              <a:t>۳۰ ژوئیه ۲۰۰۳</a:t>
            </a:r>
          </a:p>
          <a:p>
            <a:pPr rtl="1" algn="r">
              <a:spcBef>
                <a:spcPts val="100"/>
              </a:spcBef>
              <a:spcAft>
                <a:spcPts val="0"/>
              </a:spcAft>
            </a:pPr>
            <a:r>
              <a:rPr sz="1300" b="0" i="0">
                <a:solidFill>
                  <a:srgbClr val="222B36"/>
                </a:solidFill>
                <a:latin typeface="Tahoma"/>
                <a:ea typeface="Tahoma"/>
                <a:cs typeface="Tahoma"/>
              </a:rPr>
              <a:t>آخرین بیتل کلاسیک به شماره ۲۱٬۵۲۹٬۴۶۴ در پوئبلا از خط خارج شد؛ پایان ۶۵ سال تولید پیوسته یک طرح.</a:t>
            </a:r>
          </a:p>
          <a:p>
            <a:pPr rtl="1" algn="r">
              <a:spcBef>
                <a:spcPts val="1000"/>
              </a:spcBef>
              <a:spcAft>
                <a:spcPts val="200"/>
              </a:spcAft>
            </a:pPr>
            <a:r>
              <a:rPr sz="1550" b="1" i="0">
                <a:solidFill>
                  <a:srgbClr val="102C50"/>
                </a:solidFill>
                <a:latin typeface="Tahoma"/>
                <a:ea typeface="Tahoma"/>
                <a:cs typeface="Tahoma"/>
              </a:rPr>
              <a:t>۲۰۱۱–۲۰۱۹</a:t>
            </a:r>
          </a:p>
          <a:p>
            <a:pPr rtl="1" algn="r">
              <a:spcBef>
                <a:spcPts val="100"/>
              </a:spcBef>
              <a:spcAft>
                <a:spcPts val="0"/>
              </a:spcAft>
            </a:pPr>
            <a:r>
              <a:rPr sz="1300" b="0" i="0">
                <a:solidFill>
                  <a:srgbClr val="222B36"/>
                </a:solidFill>
                <a:latin typeface="Tahoma"/>
                <a:ea typeface="Tahoma"/>
                <a:cs typeface="Tahoma"/>
              </a:rPr>
              <a:t>نسل سوم مدرن عرضه شد و در ۲۰۱۹ با نسخه خداحافظی «Final Edition» برای همیشه خداحافظی کرد.</a:t>
            </a:r>
          </a:p>
          <a:p>
            <a:pPr rtl="1" algn="r">
              <a:spcBef>
                <a:spcPts val="1000"/>
              </a:spcBef>
              <a:spcAft>
                <a:spcPts val="200"/>
              </a:spcAft>
            </a:pPr>
            <a:r>
              <a:rPr sz="1550" b="1" i="0">
                <a:solidFill>
                  <a:srgbClr val="102C50"/>
                </a:solidFill>
                <a:latin typeface="Tahoma"/>
                <a:ea typeface="Tahoma"/>
                <a:cs typeface="Tahoma"/>
              </a:rPr>
              <a:t>رکورد جاودانه</a:t>
            </a:r>
          </a:p>
          <a:p>
            <a:pPr rtl="1" algn="r">
              <a:spcBef>
                <a:spcPts val="100"/>
              </a:spcBef>
              <a:spcAft>
                <a:spcPts val="0"/>
              </a:spcAft>
            </a:pPr>
            <a:r>
              <a:rPr sz="1300" b="0" i="0">
                <a:solidFill>
                  <a:srgbClr val="222B36"/>
                </a:solidFill>
                <a:latin typeface="Tahoma"/>
                <a:ea typeface="Tahoma"/>
                <a:cs typeface="Tahoma"/>
              </a:rPr>
              <a:t>بیتل با بیش از ۲۱٫۵ میلیون دستگاه، پرفروش‌ترین خودروی تاریخ با یک طرح بدنه است.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2695" y="6437376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C6B7A"/>
                </a:solidFill>
                <a:latin typeface="Tahoma"/>
                <a:ea typeface="Tahoma"/>
                <a:cs typeface="Tahoma"/>
              </a:rPr>
              <a:t>تاریخچه فولکس‌واگن  |  ۱۹۳۷ تا امروز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00800"/>
            <a:ext cx="7315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28BDC"/>
                </a:solidFill>
                <a:latin typeface="Tahoma"/>
                <a:ea typeface="Tahoma"/>
                <a:cs typeface="Tahoma"/>
              </a:rP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28BDC"/>
                </a:solidFill>
                <a:latin typeface="Tahoma"/>
                <a:ea typeface="Tahoma"/>
                <a:cs typeface="Tahoma"/>
              </a:rPr>
              <a:t>بخش یازدهم — افتخارات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8585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81B33"/>
                </a:solidFill>
                <a:latin typeface="Tahoma"/>
                <a:ea typeface="Tahoma"/>
                <a:cs typeface="Tahoma"/>
              </a:rPr>
              <a:t>موتوراسپورت: از داکار تا رکوردهای برقی</a:t>
            </a:r>
          </a:p>
        </p:txBody>
      </p:sp>
      <p:sp>
        <p:nvSpPr>
          <p:cNvPr id="5" name="Rectangle 4"/>
          <p:cNvSpPr/>
          <p:nvPr/>
        </p:nvSpPr>
        <p:spPr>
          <a:xfrm>
            <a:off x="10454335" y="1225296"/>
            <a:ext cx="1234440" cy="41148"/>
          </a:xfrm>
          <a:prstGeom prst="rect">
            <a:avLst/>
          </a:prstGeom>
          <a:solidFill>
            <a:srgbClr val="128B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899855" y="1239012"/>
            <a:ext cx="1417320" cy="18288"/>
          </a:xfrm>
          <a:prstGeom prst="rect">
            <a:avLst/>
          </a:prstGeom>
          <a:solidFill>
            <a:srgbClr val="D5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ltis.jpg"/>
          <p:cNvPicPr>
            <a:picLocks noChangeAspect="1"/>
          </p:cNvPicPr>
          <p:nvPr/>
        </p:nvPicPr>
        <p:blipFill>
          <a:blip r:embed="rId2"/>
          <a:srcRect t="20100" b="20100"/>
          <a:stretch>
            <a:fillRect/>
          </a:stretch>
        </p:blipFill>
        <p:spPr>
          <a:xfrm>
            <a:off x="502920" y="1572768"/>
            <a:ext cx="5166360" cy="2148840"/>
          </a:xfrm>
          <a:prstGeom prst="rect">
            <a:avLst/>
          </a:prstGeom>
          <a:ln w="34925">
            <a:solidFill>
              <a:srgbClr val="FFFFFF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02920" y="3767328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B7A"/>
                </a:solidFill>
                <a:latin typeface="Tahoma"/>
                <a:ea typeface="Tahoma"/>
                <a:cs typeface="Tahoma"/>
              </a:rPr>
              <a:t>ایلتیس قهرمان رالی پاریس-داکار ۱۹۸۰</a:t>
            </a:r>
          </a:p>
        </p:txBody>
      </p:sp>
      <p:pic>
        <p:nvPicPr>
          <p:cNvPr id="9" name="Picture 8" descr="wrc.jpg"/>
          <p:cNvPicPr>
            <a:picLocks noChangeAspect="1"/>
          </p:cNvPicPr>
          <p:nvPr/>
        </p:nvPicPr>
        <p:blipFill>
          <a:blip r:embed="rId3"/>
          <a:srcRect t="25576" b="25576"/>
          <a:stretch>
            <a:fillRect/>
          </a:stretch>
        </p:blipFill>
        <p:spPr>
          <a:xfrm>
            <a:off x="502920" y="4114800"/>
            <a:ext cx="5166360" cy="1783080"/>
          </a:xfrm>
          <a:prstGeom prst="rect">
            <a:avLst/>
          </a:prstGeom>
          <a:ln w="34925">
            <a:solidFill>
              <a:srgbClr val="FFFFFF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502920" y="5943600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B7A"/>
                </a:solidFill>
                <a:latin typeface="Tahoma"/>
                <a:ea typeface="Tahoma"/>
                <a:cs typeface="Tahoma"/>
              </a:rPr>
              <a:t>پولو R WRC با سباستین اوژیه؛ چهار قهرمانی پیاپی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06440" y="1572768"/>
            <a:ext cx="5879592" cy="4480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200"/>
              </a:spcAft>
            </a:pPr>
            <a:r>
              <a:rPr sz="1550" b="1" i="0">
                <a:solidFill>
                  <a:srgbClr val="102C50"/>
                </a:solidFill>
                <a:latin typeface="Tahoma"/>
                <a:ea typeface="Tahoma"/>
                <a:cs typeface="Tahoma"/>
              </a:rPr>
              <a:t>۱۹۸۰: داکار</a:t>
            </a:r>
          </a:p>
          <a:p>
            <a:pPr rtl="1" algn="r">
              <a:spcBef>
                <a:spcPts val="100"/>
              </a:spcBef>
              <a:spcAft>
                <a:spcPts val="0"/>
              </a:spcAft>
            </a:pPr>
            <a:r>
              <a:rPr sz="1300" b="0" i="0">
                <a:solidFill>
                  <a:srgbClr val="222B36"/>
                </a:solidFill>
                <a:latin typeface="Tahoma"/>
                <a:ea typeface="Tahoma"/>
                <a:cs typeface="Tahoma"/>
              </a:rPr>
              <a:t>ایلتیس سبک و ساده، غول‌های داکار را شکست داد و نخست از چهار قهرمانی پیاپی برند در این رالی بود.</a:t>
            </a:r>
          </a:p>
          <a:p>
            <a:pPr rtl="1" algn="r">
              <a:spcBef>
                <a:spcPts val="1000"/>
              </a:spcBef>
              <a:spcAft>
                <a:spcPts val="200"/>
              </a:spcAft>
            </a:pPr>
            <a:r>
              <a:rPr sz="1550" b="1" i="0">
                <a:solidFill>
                  <a:srgbClr val="102C50"/>
                </a:solidFill>
                <a:latin typeface="Tahoma"/>
                <a:ea typeface="Tahoma"/>
                <a:cs typeface="Tahoma"/>
              </a:rPr>
              <a:t>۲۰۰۹–۲۰۱: ریس توآرگ</a:t>
            </a:r>
          </a:p>
          <a:p>
            <a:pPr rtl="1" algn="r">
              <a:spcBef>
                <a:spcPts val="100"/>
              </a:spcBef>
              <a:spcAft>
                <a:spcPts val="0"/>
              </a:spcAft>
            </a:pPr>
            <a:r>
              <a:rPr sz="1300" b="0" i="0">
                <a:solidFill>
                  <a:srgbClr val="222B36"/>
                </a:solidFill>
                <a:latin typeface="Tahoma"/>
                <a:ea typeface="Tahoma"/>
                <a:cs typeface="Tahoma"/>
              </a:rPr>
              <a:t>سه قهرمانی پیاپی رالی داکار با خودروی دیزلی؛ اثبات دوام مهندسی آلمانی در سخت‌ترین صحراها.</a:t>
            </a:r>
          </a:p>
          <a:p>
            <a:pPr rtl="1" algn="r">
              <a:spcBef>
                <a:spcPts val="1000"/>
              </a:spcBef>
              <a:spcAft>
                <a:spcPts val="200"/>
              </a:spcAft>
            </a:pPr>
            <a:r>
              <a:rPr sz="1550" b="1" i="0">
                <a:solidFill>
                  <a:srgbClr val="102C50"/>
                </a:solidFill>
                <a:latin typeface="Tahoma"/>
                <a:ea typeface="Tahoma"/>
                <a:cs typeface="Tahoma"/>
              </a:rPr>
              <a:t>۲۰۱۳–۲۰۱۶: سلطه WRC</a:t>
            </a:r>
          </a:p>
          <a:p>
            <a:pPr rtl="1" algn="r">
              <a:spcBef>
                <a:spcPts val="100"/>
              </a:spcBef>
              <a:spcAft>
                <a:spcPts val="0"/>
              </a:spcAft>
            </a:pPr>
            <a:r>
              <a:rPr sz="1300" b="0" i="0">
                <a:solidFill>
                  <a:srgbClr val="222B36"/>
                </a:solidFill>
                <a:latin typeface="Tahoma"/>
                <a:ea typeface="Tahoma"/>
                <a:cs typeface="Tahoma"/>
              </a:rPr>
              <a:t>پولو R WRC با سباستین اوژیه چهار قهرمانی پیاپی رالی جهان؛ یکی از پرافتخارترین دوره‌های تاریخ این ورزش.</a:t>
            </a:r>
          </a:p>
          <a:p>
            <a:pPr rtl="1" algn="r">
              <a:spcBef>
                <a:spcPts val="1000"/>
              </a:spcBef>
              <a:spcAft>
                <a:spcPts val="200"/>
              </a:spcAft>
            </a:pPr>
            <a:r>
              <a:rPr sz="1550" b="1" i="0">
                <a:solidFill>
                  <a:srgbClr val="102C50"/>
                </a:solidFill>
                <a:latin typeface="Tahoma"/>
                <a:ea typeface="Tahoma"/>
                <a:cs typeface="Tahoma"/>
              </a:rPr>
              <a:t>عصر برقی</a:t>
            </a:r>
          </a:p>
          <a:p>
            <a:pPr rtl="1" algn="r">
              <a:spcBef>
                <a:spcPts val="100"/>
              </a:spcBef>
              <a:spcAft>
                <a:spcPts val="0"/>
              </a:spcAft>
            </a:pPr>
            <a:r>
              <a:rPr sz="1300" b="0" i="0">
                <a:solidFill>
                  <a:srgbClr val="222B36"/>
                </a:solidFill>
                <a:latin typeface="Tahoma"/>
                <a:ea typeface="Tahoma"/>
                <a:cs typeface="Tahoma"/>
              </a:rPr>
              <a:t>ID.R رکوردهای پایکس‌پیک (۲۰۱۸) و نوربورگ‌رینگ برقی (۲۰۱۹) را شکست؛ پیام روشن برای فصل تازه برند.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2695" y="6437376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C6B7A"/>
                </a:solidFill>
                <a:latin typeface="Tahoma"/>
                <a:ea typeface="Tahoma"/>
                <a:cs typeface="Tahoma"/>
              </a:rPr>
              <a:t>تاریخچه فولکس‌واگن  |  ۱۹۳۷ تا امروز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00800"/>
            <a:ext cx="7315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28BDC"/>
                </a:solidFill>
                <a:latin typeface="Tahoma"/>
                <a:ea typeface="Tahoma"/>
                <a:cs typeface="Tahoma"/>
              </a:rPr>
              <a:t>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6EC6F0"/>
                </a:solidFill>
                <a:latin typeface="Tahoma"/>
                <a:ea typeface="Tahoma"/>
                <a:cs typeface="Tahoma"/>
              </a:rPr>
              <a:t>بخش دوازدهم — بحران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8585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دیزل‌گیت ۲۰۱۵: بزرگ‌ترین بحران تاریخ شرکت</a:t>
            </a:r>
          </a:p>
        </p:txBody>
      </p:sp>
      <p:sp>
        <p:nvSpPr>
          <p:cNvPr id="5" name="Rectangle 4"/>
          <p:cNvSpPr/>
          <p:nvPr/>
        </p:nvSpPr>
        <p:spPr>
          <a:xfrm>
            <a:off x="10454335" y="1225296"/>
            <a:ext cx="1234440" cy="41148"/>
          </a:xfrm>
          <a:prstGeom prst="rect">
            <a:avLst/>
          </a:prstGeom>
          <a:solidFill>
            <a:srgbClr val="6E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899855" y="1239012"/>
            <a:ext cx="1417320" cy="18288"/>
          </a:xfrm>
          <a:prstGeom prst="rect">
            <a:avLst/>
          </a:prstGeom>
          <a:solidFill>
            <a:srgbClr val="2A44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ieselgate.jpg"/>
          <p:cNvPicPr>
            <a:picLocks noChangeAspect="1"/>
          </p:cNvPicPr>
          <p:nvPr/>
        </p:nvPicPr>
        <p:blipFill>
          <a:blip r:embed="rId2"/>
          <a:srcRect t="16942" b="16942"/>
          <a:stretch>
            <a:fillRect/>
          </a:stretch>
        </p:blipFill>
        <p:spPr>
          <a:xfrm>
            <a:off x="502920" y="1572768"/>
            <a:ext cx="5166360" cy="2148840"/>
          </a:xfrm>
          <a:prstGeom prst="rect">
            <a:avLst/>
          </a:prstGeom>
          <a:ln w="34925">
            <a:solidFill>
              <a:srgbClr val="FFFFFF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02920" y="3767328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FB4C9"/>
                </a:solidFill>
                <a:latin typeface="Tahoma"/>
                <a:ea typeface="Tahoma"/>
                <a:cs typeface="Tahoma"/>
              </a:rPr>
              <a:t>برج مرکزی ولفسبورگ زیر ابرهای تیره، ۲۰۲۰</a:t>
            </a:r>
          </a:p>
        </p:txBody>
      </p:sp>
      <p:pic>
        <p:nvPicPr>
          <p:cNvPr id="9" name="Picture 8" descr="dieselgate2.jpg"/>
          <p:cNvPicPr>
            <a:picLocks noChangeAspect="1"/>
          </p:cNvPicPr>
          <p:nvPr/>
        </p:nvPicPr>
        <p:blipFill>
          <a:blip r:embed="rId3"/>
          <a:srcRect t="17202" b="17202"/>
          <a:stretch>
            <a:fillRect/>
          </a:stretch>
        </p:blipFill>
        <p:spPr>
          <a:xfrm>
            <a:off x="502920" y="4114800"/>
            <a:ext cx="5166360" cy="1783080"/>
          </a:xfrm>
          <a:prstGeom prst="rect">
            <a:avLst/>
          </a:prstGeom>
          <a:ln w="34925">
            <a:solidFill>
              <a:srgbClr val="FFFFFF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502920" y="5943600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FB4C9"/>
                </a:solidFill>
                <a:latin typeface="Tahoma"/>
                <a:ea typeface="Tahoma"/>
                <a:cs typeface="Tahoma"/>
              </a:rPr>
              <a:t>نیروگاه کارخانه؛ نمادی از پایان عصر دیزل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06440" y="1572768"/>
            <a:ext cx="5879592" cy="4480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200"/>
              </a:spcAft>
            </a:pPr>
            <a:r>
              <a:rPr sz="1550" b="1" i="0">
                <a:solidFill>
                  <a:srgbClr val="102C50"/>
                </a:solidFill>
                <a:latin typeface="Tahoma"/>
                <a:ea typeface="Tahoma"/>
                <a:cs typeface="Tahoma"/>
              </a:rPr>
              <a:t>۱۸ سپتامبر ۲۰۱۵</a:t>
            </a:r>
          </a:p>
          <a:p>
            <a:pPr rtl="1" algn="r">
              <a:spcBef>
                <a:spcPts val="100"/>
              </a:spcBef>
              <a:spcAft>
                <a:spcPts val="0"/>
              </a:spcAft>
            </a:pPr>
            <a:r>
              <a:rPr sz="1300" b="0" i="0">
                <a:solidFill>
                  <a:srgbClr val="D5E0EC"/>
                </a:solidFill>
                <a:latin typeface="Tahoma"/>
                <a:ea typeface="Tahoma"/>
                <a:cs typeface="Tahoma"/>
              </a:rPr>
              <a:t>آژانس حفاظت محیط زیست آمریکا افشا کرد که نرم‌افزار موتورهای دیزل EA189 تنها هنگام آزمایش، آلودگی را کاهش می‌دهد.</a:t>
            </a:r>
          </a:p>
          <a:p>
            <a:pPr rtl="1" algn="r">
              <a:spcBef>
                <a:spcPts val="1000"/>
              </a:spcBef>
              <a:spcAft>
                <a:spcPts val="200"/>
              </a:spcAft>
            </a:pPr>
            <a:r>
              <a:rPr sz="1550" b="1" i="0">
                <a:solidFill>
                  <a:srgbClr val="102C50"/>
                </a:solidFill>
                <a:latin typeface="Tahoma"/>
                <a:ea typeface="Tahoma"/>
                <a:cs typeface="Tahoma"/>
              </a:rPr>
              <a:t>دامنه بحران</a:t>
            </a:r>
          </a:p>
          <a:p>
            <a:pPr rtl="1" algn="r">
              <a:spcBef>
                <a:spcPts val="100"/>
              </a:spcBef>
              <a:spcAft>
                <a:spcPts val="0"/>
              </a:spcAft>
            </a:pPr>
            <a:r>
              <a:rPr sz="1300" b="0" i="0">
                <a:solidFill>
                  <a:srgbClr val="D5E0EC"/>
                </a:solidFill>
                <a:latin typeface="Tahoma"/>
                <a:ea typeface="Tahoma"/>
                <a:cs typeface="Tahoma"/>
              </a:rPr>
              <a:t>نزدیک به ۱۱ میلیون خودرو در سراسر جهان؛ «دستگاه تقلب» اعتماد عمومی و رگولاتورها را هم‌زمان خشمگین کرد.</a:t>
            </a:r>
          </a:p>
          <a:p>
            <a:pPr rtl="1" algn="r">
              <a:spcBef>
                <a:spcPts val="1000"/>
              </a:spcBef>
              <a:spcAft>
                <a:spcPts val="200"/>
              </a:spcAft>
            </a:pPr>
            <a:r>
              <a:rPr sz="1550" b="1" i="0">
                <a:solidFill>
                  <a:srgbClr val="102C50"/>
                </a:solidFill>
                <a:latin typeface="Tahoma"/>
                <a:ea typeface="Tahoma"/>
                <a:cs typeface="Tahoma"/>
              </a:rPr>
              <a:t>بهای سنگین</a:t>
            </a:r>
          </a:p>
          <a:p>
            <a:pPr rtl="1" algn="r">
              <a:spcBef>
                <a:spcPts val="100"/>
              </a:spcBef>
              <a:spcAft>
                <a:spcPts val="0"/>
              </a:spcAft>
            </a:pPr>
            <a:r>
              <a:rPr sz="1300" b="0" i="0">
                <a:solidFill>
                  <a:srgbClr val="D5E0EC"/>
                </a:solidFill>
                <a:latin typeface="Tahoma"/>
                <a:ea typeface="Tahoma"/>
                <a:cs typeface="Tahoma"/>
              </a:rPr>
              <a:t>استعفای مارتین وینترکورن، بیش از ۳۰ میلیارد یورو جریمه و غرامت، و بازسازی کامل ساختار حاکمیت شرکت.</a:t>
            </a:r>
          </a:p>
          <a:p>
            <a:pPr rtl="1" algn="r">
              <a:spcBef>
                <a:spcPts val="1000"/>
              </a:spcBef>
              <a:spcAft>
                <a:spcPts val="200"/>
              </a:spcAft>
            </a:pPr>
            <a:r>
              <a:rPr sz="1550" b="1" i="0">
                <a:solidFill>
                  <a:srgbClr val="102C50"/>
                </a:solidFill>
                <a:latin typeface="Tahoma"/>
                <a:ea typeface="Tahoma"/>
                <a:cs typeface="Tahoma"/>
              </a:rPr>
              <a:t>پاسخ راهبردی</a:t>
            </a:r>
          </a:p>
          <a:p>
            <a:pPr rtl="1" algn="r">
              <a:spcBef>
                <a:spcPts val="100"/>
              </a:spcBef>
              <a:spcAft>
                <a:spcPts val="0"/>
              </a:spcAft>
            </a:pPr>
            <a:r>
              <a:rPr sz="1300" b="0" i="0">
                <a:solidFill>
                  <a:srgbClr val="D5E0EC"/>
                </a:solidFill>
                <a:latin typeface="Tahoma"/>
                <a:ea typeface="Tahoma"/>
                <a:cs typeface="Tahoma"/>
              </a:rPr>
              <a:t>بحران به کاتالیزور بزرگ‌ترین چرخش تاریخ شرکت تبدیل شد: سرمایه‌گذاری همه‌جانبه در خودروی برقی و شفافیت.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2695" y="6437376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FB4C9"/>
                </a:solidFill>
                <a:latin typeface="Tahoma"/>
                <a:ea typeface="Tahoma"/>
                <a:cs typeface="Tahoma"/>
              </a:rPr>
              <a:t>تاریخچه فولکس‌واگن  |  ۱۹۳۷ تا امروز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00800"/>
            <a:ext cx="7315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EC6F0"/>
                </a:solidFill>
                <a:latin typeface="Tahoma"/>
                <a:ea typeface="Tahoma"/>
                <a:cs typeface="Tahoma"/>
              </a:rPr>
              <a:t>19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28BDC"/>
                </a:solidFill>
                <a:latin typeface="Tahoma"/>
                <a:ea typeface="Tahoma"/>
                <a:cs typeface="Tahoma"/>
              </a:rPr>
              <a:t>بخش سیزدهم — برقی‌سازی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8585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81B33"/>
                </a:solidFill>
                <a:latin typeface="Tahoma"/>
                <a:ea typeface="Tahoma"/>
                <a:cs typeface="Tahoma"/>
              </a:rPr>
              <a:t>چرخش بزرگ: پلتفرم MEB و کارخانه تسویکاو</a:t>
            </a:r>
          </a:p>
        </p:txBody>
      </p:sp>
      <p:sp>
        <p:nvSpPr>
          <p:cNvPr id="5" name="Rectangle 4"/>
          <p:cNvSpPr/>
          <p:nvPr/>
        </p:nvSpPr>
        <p:spPr>
          <a:xfrm>
            <a:off x="10454335" y="1225296"/>
            <a:ext cx="1234440" cy="41148"/>
          </a:xfrm>
          <a:prstGeom prst="rect">
            <a:avLst/>
          </a:prstGeom>
          <a:solidFill>
            <a:srgbClr val="128B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899855" y="1239012"/>
            <a:ext cx="1417320" cy="18288"/>
          </a:xfrm>
          <a:prstGeom prst="rect">
            <a:avLst/>
          </a:prstGeom>
          <a:solidFill>
            <a:srgbClr val="D5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zwickau.jpg"/>
          <p:cNvPicPr>
            <a:picLocks noChangeAspect="1"/>
          </p:cNvPicPr>
          <p:nvPr/>
        </p:nvPicPr>
        <p:blipFill>
          <a:blip r:embed="rId2"/>
          <a:srcRect t="18805" b="18805"/>
          <a:stretch>
            <a:fillRect/>
          </a:stretch>
        </p:blipFill>
        <p:spPr>
          <a:xfrm>
            <a:off x="502920" y="1572768"/>
            <a:ext cx="5166360" cy="2148840"/>
          </a:xfrm>
          <a:prstGeom prst="rect">
            <a:avLst/>
          </a:prstGeom>
          <a:ln w="34925">
            <a:solidFill>
              <a:srgbClr val="FFFFFF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02920" y="3767328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B7A"/>
                </a:solidFill>
                <a:latin typeface="Tahoma"/>
                <a:ea typeface="Tahoma"/>
                <a:cs typeface="Tahoma"/>
              </a:rPr>
              <a:t>کارخانه تسویکاو؛ نخستین کارخانه تمام‌برقی اروپا</a:t>
            </a:r>
          </a:p>
        </p:txBody>
      </p:sp>
      <p:pic>
        <p:nvPicPr>
          <p:cNvPr id="9" name="Picture 8" descr="zwickau2.jpg"/>
          <p:cNvPicPr>
            <a:picLocks noChangeAspect="1"/>
          </p:cNvPicPr>
          <p:nvPr/>
        </p:nvPicPr>
        <p:blipFill>
          <a:blip r:embed="rId3"/>
          <a:srcRect t="19294" b="19294"/>
          <a:stretch>
            <a:fillRect/>
          </a:stretch>
        </p:blipFill>
        <p:spPr>
          <a:xfrm>
            <a:off x="502920" y="4114800"/>
            <a:ext cx="5166360" cy="1783080"/>
          </a:xfrm>
          <a:prstGeom prst="rect">
            <a:avLst/>
          </a:prstGeom>
          <a:ln w="34925">
            <a:solidFill>
              <a:srgbClr val="FFFFFF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502920" y="5943600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B7A"/>
                </a:solidFill>
                <a:latin typeface="Tahoma"/>
                <a:ea typeface="Tahoma"/>
                <a:cs typeface="Tahoma"/>
              </a:rPr>
              <a:t>یک‌میلیونمین خودروی برقی تسویکاو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06440" y="1572768"/>
            <a:ext cx="5879592" cy="4480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200"/>
              </a:spcAft>
            </a:pPr>
            <a:r>
              <a:rPr sz="1550" b="1" i="0">
                <a:solidFill>
                  <a:srgbClr val="102C50"/>
                </a:solidFill>
                <a:latin typeface="Tahoma"/>
                <a:ea typeface="Tahoma"/>
                <a:cs typeface="Tahoma"/>
              </a:rPr>
              <a:t>۲۰۱۶: Together 2025</a:t>
            </a:r>
          </a:p>
          <a:p>
            <a:pPr rtl="1" algn="r">
              <a:spcBef>
                <a:spcPts val="100"/>
              </a:spcBef>
              <a:spcAft>
                <a:spcPts val="0"/>
              </a:spcAft>
            </a:pPr>
            <a:r>
              <a:rPr sz="1300" b="0" i="0">
                <a:solidFill>
                  <a:srgbClr val="222B36"/>
                </a:solidFill>
                <a:latin typeface="Tahoma"/>
                <a:ea typeface="Tahoma"/>
                <a:cs typeface="Tahoma"/>
              </a:rPr>
              <a:t>پس از دیزل‌گیت، برقی‌سازی در مرکز استراتژی نوسازی گروه قرار گرفت؛ بزرگ‌ترین برنامه سرمایه‌گذاری تاریخ شرکت.</a:t>
            </a:r>
          </a:p>
          <a:p>
            <a:pPr rtl="1" algn="r">
              <a:spcBef>
                <a:spcPts val="1000"/>
              </a:spcBef>
              <a:spcAft>
                <a:spcPts val="200"/>
              </a:spcAft>
            </a:pPr>
            <a:r>
              <a:rPr sz="1550" b="1" i="0">
                <a:solidFill>
                  <a:srgbClr val="102C50"/>
                </a:solidFill>
                <a:latin typeface="Tahoma"/>
                <a:ea typeface="Tahoma"/>
                <a:cs typeface="Tahoma"/>
              </a:rPr>
              <a:t>پلتفرم MEB</a:t>
            </a:r>
          </a:p>
          <a:p>
            <a:pPr rtl="1" algn="r">
              <a:spcBef>
                <a:spcPts val="100"/>
              </a:spcBef>
              <a:spcAft>
                <a:spcPts val="0"/>
              </a:spcAft>
            </a:pPr>
            <a:r>
              <a:rPr sz="1300" b="0" i="0">
                <a:solidFill>
                  <a:srgbClr val="222B36"/>
                </a:solidFill>
                <a:latin typeface="Tahoma"/>
                <a:ea typeface="Tahoma"/>
                <a:cs typeface="Tahoma"/>
              </a:rPr>
              <a:t>معماری اختصاصی خودروی برقی برای تولید انبوه مقرون‌به‌صرفه؛ همان نقشی که پلتفرم بیتل در قرن بیستم داشت.</a:t>
            </a:r>
          </a:p>
          <a:p>
            <a:pPr rtl="1" algn="r">
              <a:spcBef>
                <a:spcPts val="1000"/>
              </a:spcBef>
              <a:spcAft>
                <a:spcPts val="200"/>
              </a:spcAft>
            </a:pPr>
            <a:r>
              <a:rPr sz="1550" b="1" i="0">
                <a:solidFill>
                  <a:srgbClr val="102C50"/>
                </a:solidFill>
                <a:latin typeface="Tahoma"/>
                <a:ea typeface="Tahoma"/>
                <a:cs typeface="Tahoma"/>
              </a:rPr>
              <a:t>نوامبر ۲۰۱۹</a:t>
            </a:r>
          </a:p>
          <a:p>
            <a:pPr rtl="1" algn="r">
              <a:spcBef>
                <a:spcPts val="100"/>
              </a:spcBef>
              <a:spcAft>
                <a:spcPts val="0"/>
              </a:spcAft>
            </a:pPr>
            <a:r>
              <a:rPr sz="1300" b="0" i="0">
                <a:solidFill>
                  <a:srgbClr val="222B36"/>
                </a:solidFill>
                <a:latin typeface="Tahoma"/>
                <a:ea typeface="Tahoma"/>
                <a:cs typeface="Tahoma"/>
              </a:rPr>
              <a:t>تسویکاو نخستین کارخانه بزرگ اروپا شد که تماماً خودروی برقی می‌سازد؛ الگویی برای سایر کارخانه‌ها.</a:t>
            </a:r>
          </a:p>
          <a:p>
            <a:pPr rtl="1" algn="r">
              <a:spcBef>
                <a:spcPts val="1000"/>
              </a:spcBef>
              <a:spcAft>
                <a:spcPts val="200"/>
              </a:spcAft>
            </a:pPr>
            <a:r>
              <a:rPr sz="1550" b="1" i="0">
                <a:solidFill>
                  <a:srgbClr val="102C50"/>
                </a:solidFill>
                <a:latin typeface="Tahoma"/>
                <a:ea typeface="Tahoma"/>
                <a:cs typeface="Tahoma"/>
              </a:rPr>
              <a:t>هدف ۲۰۳۰</a:t>
            </a:r>
          </a:p>
          <a:p>
            <a:pPr rtl="1" algn="r">
              <a:spcBef>
                <a:spcPts val="100"/>
              </a:spcBef>
              <a:spcAft>
                <a:spcPts val="0"/>
              </a:spcAft>
            </a:pPr>
            <a:r>
              <a:rPr sz="1300" b="0" i="0">
                <a:solidFill>
                  <a:srgbClr val="222B36"/>
                </a:solidFill>
                <a:latin typeface="Tahoma"/>
                <a:ea typeface="Tahoma"/>
                <a:cs typeface="Tahoma"/>
              </a:rPr>
              <a:t>بیش از ۸۰ درصد فروش اروپا برقی؛ همراه با پلتفرم نرم‌افزاری جدید و همکاری‌های فناوری بین‌المللی.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2695" y="6437376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C6B7A"/>
                </a:solidFill>
                <a:latin typeface="Tahoma"/>
                <a:ea typeface="Tahoma"/>
                <a:cs typeface="Tahoma"/>
              </a:rPr>
              <a:t>تاریخچه فولکس‌واگن  |  ۱۹۳۷ تا امروز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00800"/>
            <a:ext cx="7315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28BDC"/>
                </a:solidFill>
                <a:latin typeface="Tahoma"/>
                <a:ea typeface="Tahoma"/>
                <a:cs typeface="Tahoma"/>
              </a:rPr>
              <a:t>20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28BDC"/>
                </a:solidFill>
                <a:latin typeface="Tahoma"/>
                <a:ea typeface="Tahoma"/>
                <a:cs typeface="Tahoma"/>
              </a:rPr>
              <a:t>بخش سیزدهم — برقی‌سازی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8585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81B33"/>
                </a:solidFill>
                <a:latin typeface="Tahoma"/>
                <a:ea typeface="Tahoma"/>
                <a:cs typeface="Tahoma"/>
              </a:rPr>
              <a:t>خانواده ID: گلفِ عصر جدید</a:t>
            </a:r>
          </a:p>
        </p:txBody>
      </p:sp>
      <p:sp>
        <p:nvSpPr>
          <p:cNvPr id="5" name="Rectangle 4"/>
          <p:cNvSpPr/>
          <p:nvPr/>
        </p:nvSpPr>
        <p:spPr>
          <a:xfrm>
            <a:off x="10454335" y="1225296"/>
            <a:ext cx="1234440" cy="41148"/>
          </a:xfrm>
          <a:prstGeom prst="rect">
            <a:avLst/>
          </a:prstGeom>
          <a:solidFill>
            <a:srgbClr val="128B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899855" y="1239012"/>
            <a:ext cx="1417320" cy="18288"/>
          </a:xfrm>
          <a:prstGeom prst="rect">
            <a:avLst/>
          </a:prstGeom>
          <a:solidFill>
            <a:srgbClr val="D5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d3.jpg"/>
          <p:cNvPicPr>
            <a:picLocks noChangeAspect="1"/>
          </p:cNvPicPr>
          <p:nvPr/>
        </p:nvPicPr>
        <p:blipFill>
          <a:blip r:embed="rId2"/>
          <a:srcRect t="2096" b="2096"/>
          <a:stretch>
            <a:fillRect/>
          </a:stretch>
        </p:blipFill>
        <p:spPr>
          <a:xfrm>
            <a:off x="8112556" y="1572768"/>
            <a:ext cx="3576218" cy="2286000"/>
          </a:xfrm>
          <a:prstGeom prst="rect">
            <a:avLst/>
          </a:prstGeom>
          <a:ln w="34925">
            <a:solidFill>
              <a:srgbClr val="FFFFFF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8112556" y="3913632"/>
            <a:ext cx="357621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B7A"/>
                </a:solidFill>
                <a:latin typeface="Tahoma"/>
                <a:ea typeface="Tahoma"/>
                <a:cs typeface="Tahoma"/>
              </a:rPr>
              <a:t>ID.3 (۲۰۲۰): هاچ‌بک برقی، جانشین معنوی گلف</a:t>
            </a:r>
          </a:p>
        </p:txBody>
      </p:sp>
      <p:pic>
        <p:nvPicPr>
          <p:cNvPr id="9" name="Picture 8" descr="id4.jpg"/>
          <p:cNvPicPr>
            <a:picLocks noChangeAspect="1"/>
          </p:cNvPicPr>
          <p:nvPr/>
        </p:nvPicPr>
        <p:blipFill>
          <a:blip r:embed="rId3"/>
          <a:srcRect l="7468" r="7468"/>
          <a:stretch>
            <a:fillRect/>
          </a:stretch>
        </p:blipFill>
        <p:spPr>
          <a:xfrm>
            <a:off x="4307738" y="1572768"/>
            <a:ext cx="3576218" cy="2286000"/>
          </a:xfrm>
          <a:prstGeom prst="rect">
            <a:avLst/>
          </a:prstGeom>
          <a:ln w="34925">
            <a:solidFill>
              <a:srgbClr val="FFFFFF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4307738" y="3913632"/>
            <a:ext cx="357621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B7A"/>
                </a:solidFill>
                <a:latin typeface="Tahoma"/>
                <a:ea typeface="Tahoma"/>
                <a:cs typeface="Tahoma"/>
              </a:rPr>
              <a:t>ID.4 (۲۰۲۰): SUV برقی پرفروش گروه در جهان</a:t>
            </a:r>
          </a:p>
        </p:txBody>
      </p:sp>
      <p:pic>
        <p:nvPicPr>
          <p:cNvPr id="11" name="Picture 10" descr="id7.jpg"/>
          <p:cNvPicPr>
            <a:picLocks noChangeAspect="1"/>
          </p:cNvPicPr>
          <p:nvPr/>
        </p:nvPicPr>
        <p:blipFill>
          <a:blip r:embed="rId4"/>
          <a:srcRect t="3930" b="3930"/>
          <a:stretch>
            <a:fillRect/>
          </a:stretch>
        </p:blipFill>
        <p:spPr>
          <a:xfrm>
            <a:off x="502920" y="1572768"/>
            <a:ext cx="3576218" cy="2286000"/>
          </a:xfrm>
          <a:prstGeom prst="rect">
            <a:avLst/>
          </a:prstGeom>
          <a:ln w="34925">
            <a:solidFill>
              <a:srgbClr val="FFFFFF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502920" y="3913632"/>
            <a:ext cx="357621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B7A"/>
                </a:solidFill>
                <a:latin typeface="Tahoma"/>
                <a:ea typeface="Tahoma"/>
                <a:cs typeface="Tahoma"/>
              </a:rPr>
              <a:t>ID.7 (۲۰۲۳): سدان پرچم‌دار با برد بلند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526280"/>
            <a:ext cx="11185855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222B36"/>
                </a:solidFill>
                <a:latin typeface="Tahoma"/>
                <a:ea typeface="Tahoma"/>
                <a:cs typeface="Tahoma"/>
              </a:rPr>
              <a:t>خانواده ID بر پایه پلتفرم MEB ساخته می‌شود: باتری‌های ۵۸ تا ۸۶ کیلووات‌ساعت، برد واقعی تا حدود ۶۰۰ کیلومتر و شارژ سریع تا ۱۷۰ کیلووات.</a:t>
            </a:r>
          </a:p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22B36"/>
                </a:solidFill>
                <a:latin typeface="Tahoma"/>
                <a:ea typeface="Tahoma"/>
                <a:cs typeface="Tahoma"/>
              </a:rPr>
              <a:t>در کنار این سه مدل، ID.5 کوپه-SUV، ID.6 مخصوص چین و نسخه‌های GTX چهارچرخ محرک، سبد برقی گروه را کامل می‌کنند؛ سبدی که هر سال گسترده‌تر می‌شود.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62695" y="6437376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C6B7A"/>
                </a:solidFill>
                <a:latin typeface="Tahoma"/>
                <a:ea typeface="Tahoma"/>
                <a:cs typeface="Tahoma"/>
              </a:rPr>
              <a:t>تاریخچه فولکس‌واگن  |  ۱۹۳۷ تا امروز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00800"/>
            <a:ext cx="7315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28BDC"/>
                </a:solidFill>
                <a:latin typeface="Tahoma"/>
                <a:ea typeface="Tahoma"/>
                <a:cs typeface="Tahoma"/>
              </a:rPr>
              <a:t>21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28BDC"/>
                </a:solidFill>
                <a:latin typeface="Tahoma"/>
                <a:ea typeface="Tahoma"/>
                <a:cs typeface="Tahoma"/>
              </a:rPr>
              <a:t>بخش سیزدهم — برقی‌سازی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8585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81B33"/>
                </a:solidFill>
                <a:latin typeface="Tahoma"/>
                <a:ea typeface="Tahoma"/>
                <a:cs typeface="Tahoma"/>
              </a:rPr>
              <a:t>ID.Buzz: بازگشت روح بولی</a:t>
            </a:r>
          </a:p>
        </p:txBody>
      </p:sp>
      <p:sp>
        <p:nvSpPr>
          <p:cNvPr id="5" name="Rectangle 4"/>
          <p:cNvSpPr/>
          <p:nvPr/>
        </p:nvSpPr>
        <p:spPr>
          <a:xfrm>
            <a:off x="10454335" y="1225296"/>
            <a:ext cx="1234440" cy="41148"/>
          </a:xfrm>
          <a:prstGeom prst="rect">
            <a:avLst/>
          </a:prstGeom>
          <a:solidFill>
            <a:srgbClr val="128B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899855" y="1239012"/>
            <a:ext cx="1417320" cy="18288"/>
          </a:xfrm>
          <a:prstGeom prst="rect">
            <a:avLst/>
          </a:prstGeom>
          <a:solidFill>
            <a:srgbClr val="D5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dbuzz.jpg"/>
          <p:cNvPicPr>
            <a:picLocks noChangeAspect="1"/>
          </p:cNvPicPr>
          <p:nvPr/>
        </p:nvPicPr>
        <p:blipFill>
          <a:blip r:embed="rId2"/>
          <a:srcRect t="13029" b="13029"/>
          <a:stretch>
            <a:fillRect/>
          </a:stretch>
        </p:blipFill>
        <p:spPr>
          <a:xfrm>
            <a:off x="502920" y="1572768"/>
            <a:ext cx="5166360" cy="2148840"/>
          </a:xfrm>
          <a:prstGeom prst="rect">
            <a:avLst/>
          </a:prstGeom>
          <a:ln w="34925">
            <a:solidFill>
              <a:srgbClr val="FFFFFF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02920" y="3767328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B7A"/>
                </a:solidFill>
                <a:latin typeface="Tahoma"/>
                <a:ea typeface="Tahoma"/>
                <a:cs typeface="Tahoma"/>
              </a:rPr>
              <a:t>ID.Buzz (۲۰۲۲)؛ نوه برقی بولی</a:t>
            </a:r>
          </a:p>
        </p:txBody>
      </p:sp>
      <p:pic>
        <p:nvPicPr>
          <p:cNvPr id="9" name="Picture 8" descr="idbuzz2.jpg"/>
          <p:cNvPicPr>
            <a:picLocks noChangeAspect="1"/>
          </p:cNvPicPr>
          <p:nvPr/>
        </p:nvPicPr>
        <p:blipFill>
          <a:blip r:embed="rId3"/>
          <a:srcRect t="19322" b="19322"/>
          <a:stretch>
            <a:fillRect/>
          </a:stretch>
        </p:blipFill>
        <p:spPr>
          <a:xfrm>
            <a:off x="502920" y="4114800"/>
            <a:ext cx="5166360" cy="1783080"/>
          </a:xfrm>
          <a:prstGeom prst="rect">
            <a:avLst/>
          </a:prstGeom>
          <a:ln w="34925">
            <a:solidFill>
              <a:srgbClr val="FFFFFF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502920" y="5943600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B7A"/>
                </a:solidFill>
                <a:latin typeface="Tahoma"/>
                <a:ea typeface="Tahoma"/>
                <a:cs typeface="Tahoma"/>
              </a:rPr>
              <a:t>طراحی رترو با فناوری روز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06440" y="1572768"/>
            <a:ext cx="5879592" cy="4480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200"/>
              </a:spcAft>
            </a:pPr>
            <a:r>
              <a:rPr sz="1550" b="1" i="0">
                <a:solidFill>
                  <a:srgbClr val="102C50"/>
                </a:solidFill>
                <a:latin typeface="Tahoma"/>
                <a:ea typeface="Tahoma"/>
                <a:cs typeface="Tahoma"/>
              </a:rPr>
              <a:t>۲۰۲۲: معرفی</a:t>
            </a:r>
          </a:p>
          <a:p>
            <a:pPr rtl="1" algn="r">
              <a:spcBef>
                <a:spcPts val="100"/>
              </a:spcBef>
              <a:spcAft>
                <a:spcPts val="0"/>
              </a:spcAft>
            </a:pPr>
            <a:r>
              <a:rPr sz="1300" b="0" i="0">
                <a:solidFill>
                  <a:srgbClr val="222B36"/>
                </a:solidFill>
                <a:latin typeface="Tahoma"/>
                <a:ea typeface="Tahoma"/>
                <a:cs typeface="Tahoma"/>
              </a:rPr>
              <a:t>ون برقی با چراغ‌های گرد و رنگ دو‌تونه؛ ادای دین مستقیم به تیپ ۲ دهه ۱۹۶۰ و محبوب‌ترین معرفی برند در سال‌های اخیر.</a:t>
            </a:r>
          </a:p>
          <a:p>
            <a:pPr rtl="1" algn="r">
              <a:spcBef>
                <a:spcPts val="1000"/>
              </a:spcBef>
              <a:spcAft>
                <a:spcPts val="200"/>
              </a:spcAft>
            </a:pPr>
            <a:r>
              <a:rPr sz="1550" b="1" i="0">
                <a:solidFill>
                  <a:srgbClr val="102C50"/>
                </a:solidFill>
                <a:latin typeface="Tahoma"/>
                <a:ea typeface="Tahoma"/>
                <a:cs typeface="Tahoma"/>
              </a:rPr>
              <a:t>تنوع نسخه‌ها</a:t>
            </a:r>
          </a:p>
          <a:p>
            <a:pPr rtl="1" algn="r">
              <a:spcBef>
                <a:spcPts val="100"/>
              </a:spcBef>
              <a:spcAft>
                <a:spcPts val="0"/>
              </a:spcAft>
            </a:pPr>
            <a:r>
              <a:rPr sz="1300" b="0" i="0">
                <a:solidFill>
                  <a:srgbClr val="222B36"/>
                </a:solidFill>
                <a:latin typeface="Tahoma"/>
                <a:ea typeface="Tahoma"/>
                <a:cs typeface="Tahoma"/>
              </a:rPr>
              <a:t>پنج‌نفره مسافری، باری Cargo، محور طولانی هفت‌نفره و نسخه پرسرعت GTX چهارچرخ محرک.</a:t>
            </a:r>
          </a:p>
          <a:p>
            <a:pPr rtl="1" algn="r">
              <a:spcBef>
                <a:spcPts val="1000"/>
              </a:spcBef>
              <a:spcAft>
                <a:spcPts val="200"/>
              </a:spcAft>
            </a:pPr>
            <a:r>
              <a:rPr sz="1550" b="1" i="0">
                <a:solidFill>
                  <a:srgbClr val="102C50"/>
                </a:solidFill>
                <a:latin typeface="Tahoma"/>
                <a:ea typeface="Tahoma"/>
                <a:cs typeface="Tahoma"/>
              </a:rPr>
              <a:t>کاربرد شهری</a:t>
            </a:r>
          </a:p>
          <a:p>
            <a:pPr rtl="1" algn="r">
              <a:spcBef>
                <a:spcPts val="100"/>
              </a:spcBef>
              <a:spcAft>
                <a:spcPts val="0"/>
              </a:spcAft>
            </a:pPr>
            <a:r>
              <a:rPr sz="1300" b="0" i="0">
                <a:solidFill>
                  <a:srgbClr val="222B36"/>
                </a:solidFill>
                <a:latin typeface="Tahoma"/>
                <a:ea typeface="Tahoma"/>
                <a:cs typeface="Tahoma"/>
              </a:rPr>
              <a:t>انتخاب محبوب ناوگان‌های حمل‌ونقل پاک اروپا و کمپرهای مدرن؛ ادامه‌دارنده فرهنگ ونِ فولکس‌واگن.</a:t>
            </a:r>
          </a:p>
          <a:p>
            <a:pPr rtl="1" algn="r">
              <a:spcBef>
                <a:spcPts val="1000"/>
              </a:spcBef>
              <a:spcAft>
                <a:spcPts val="200"/>
              </a:spcAft>
            </a:pPr>
            <a:r>
              <a:rPr sz="1550" b="1" i="0">
                <a:solidFill>
                  <a:srgbClr val="102C50"/>
                </a:solidFill>
                <a:latin typeface="Tahoma"/>
                <a:ea typeface="Tahoma"/>
                <a:cs typeface="Tahoma"/>
              </a:rPr>
              <a:t>نماد</a:t>
            </a:r>
          </a:p>
          <a:p>
            <a:pPr rtl="1" algn="r">
              <a:spcBef>
                <a:spcPts val="100"/>
              </a:spcBef>
              <a:spcAft>
                <a:spcPts val="0"/>
              </a:spcAft>
            </a:pPr>
            <a:r>
              <a:rPr sz="1300" b="0" i="0">
                <a:solidFill>
                  <a:srgbClr val="222B36"/>
                </a:solidFill>
                <a:latin typeface="Tahoma"/>
                <a:ea typeface="Tahoma"/>
                <a:cs typeface="Tahoma"/>
              </a:rPr>
              <a:t>پیوند میراث با آینده پایدار؛ اثبات اینکه برند می‌تواند نوستالژی را به محصول فروختنی تبدیل کند.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2695" y="6437376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C6B7A"/>
                </a:solidFill>
                <a:latin typeface="Tahoma"/>
                <a:ea typeface="Tahoma"/>
                <a:cs typeface="Tahoma"/>
              </a:rPr>
              <a:t>تاریخچه فولکس‌واگن  |  ۱۹۳۷ تا امروز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00800"/>
            <a:ext cx="7315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28BDC"/>
                </a:solidFill>
                <a:latin typeface="Tahoma"/>
                <a:ea typeface="Tahoma"/>
                <a:cs typeface="Tahoma"/>
              </a:rPr>
              <a:t>22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28BDC"/>
                </a:solidFill>
                <a:latin typeface="Tahoma"/>
                <a:ea typeface="Tahoma"/>
                <a:cs typeface="Tahoma"/>
              </a:rPr>
              <a:t>بخش چهاردهم — امروز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8585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81B33"/>
                </a:solidFill>
                <a:latin typeface="Tahoma"/>
                <a:ea typeface="Tahoma"/>
                <a:cs typeface="Tahoma"/>
              </a:rPr>
              <a:t>گلف نسل ۸ و خانواده مدرن</a:t>
            </a:r>
          </a:p>
        </p:txBody>
      </p:sp>
      <p:sp>
        <p:nvSpPr>
          <p:cNvPr id="5" name="Rectangle 4"/>
          <p:cNvSpPr/>
          <p:nvPr/>
        </p:nvSpPr>
        <p:spPr>
          <a:xfrm>
            <a:off x="10454335" y="1225296"/>
            <a:ext cx="1234440" cy="41148"/>
          </a:xfrm>
          <a:prstGeom prst="rect">
            <a:avLst/>
          </a:prstGeom>
          <a:solidFill>
            <a:srgbClr val="128B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899855" y="1239012"/>
            <a:ext cx="1417320" cy="18288"/>
          </a:xfrm>
          <a:prstGeom prst="rect">
            <a:avLst/>
          </a:prstGeom>
          <a:solidFill>
            <a:srgbClr val="D5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golf8.jpg"/>
          <p:cNvPicPr>
            <a:picLocks noChangeAspect="1"/>
          </p:cNvPicPr>
          <p:nvPr/>
        </p:nvPicPr>
        <p:blipFill>
          <a:blip r:embed="rId2"/>
          <a:srcRect t="18609" b="18609"/>
          <a:stretch>
            <a:fillRect/>
          </a:stretch>
        </p:blipFill>
        <p:spPr>
          <a:xfrm>
            <a:off x="502920" y="1572768"/>
            <a:ext cx="5166360" cy="2148840"/>
          </a:xfrm>
          <a:prstGeom prst="rect">
            <a:avLst/>
          </a:prstGeom>
          <a:ln w="34925">
            <a:solidFill>
              <a:srgbClr val="FFFFFF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02920" y="3767328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B7A"/>
                </a:solidFill>
                <a:latin typeface="Tahoma"/>
                <a:ea typeface="Tahoma"/>
                <a:cs typeface="Tahoma"/>
              </a:rPr>
              <a:t>گلف نسل ۸ (۲۰۲۰)؛ دیجیتال‌ترین گلف تاریخ</a:t>
            </a:r>
          </a:p>
        </p:txBody>
      </p:sp>
      <p:pic>
        <p:nvPicPr>
          <p:cNvPr id="9" name="Picture 8" descr="tiguan.jpg"/>
          <p:cNvPicPr>
            <a:picLocks noChangeAspect="1"/>
          </p:cNvPicPr>
          <p:nvPr/>
        </p:nvPicPr>
        <p:blipFill>
          <a:blip r:embed="rId3"/>
          <a:srcRect t="15487" b="15487"/>
          <a:stretch>
            <a:fillRect/>
          </a:stretch>
        </p:blipFill>
        <p:spPr>
          <a:xfrm>
            <a:off x="502920" y="4114800"/>
            <a:ext cx="5166360" cy="1783080"/>
          </a:xfrm>
          <a:prstGeom prst="rect">
            <a:avLst/>
          </a:prstGeom>
          <a:ln w="34925">
            <a:solidFill>
              <a:srgbClr val="FFFFFF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502920" y="5943600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B7A"/>
                </a:solidFill>
                <a:latin typeface="Tahoma"/>
                <a:ea typeface="Tahoma"/>
                <a:cs typeface="Tahoma"/>
              </a:rPr>
              <a:t>تیگوآن؛ پرفروش‌ترین SUV برند در اروپا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06440" y="1572768"/>
            <a:ext cx="5879592" cy="4480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200"/>
              </a:spcAft>
            </a:pPr>
            <a:r>
              <a:rPr sz="1550" b="1" i="0">
                <a:solidFill>
                  <a:srgbClr val="102C50"/>
                </a:solidFill>
                <a:latin typeface="Tahoma"/>
                <a:ea typeface="Tahoma"/>
                <a:cs typeface="Tahoma"/>
              </a:rPr>
              <a:t>گلف، ستون خانه</a:t>
            </a:r>
          </a:p>
          <a:p>
            <a:pPr rtl="1" algn="r">
              <a:spcBef>
                <a:spcPts val="100"/>
              </a:spcBef>
              <a:spcAft>
                <a:spcPts val="0"/>
              </a:spcAft>
            </a:pPr>
            <a:r>
              <a:rPr sz="1300" b="0" i="0">
                <a:solidFill>
                  <a:srgbClr val="222B36"/>
                </a:solidFill>
                <a:latin typeface="Tahoma"/>
                <a:ea typeface="Tahoma"/>
                <a:cs typeface="Tahoma"/>
              </a:rPr>
              <a:t>از ۱۹۷۴ تاکنون بیش از ۳۷ میلیون گلف فروخته شده؛ هشتمین نسل با کابین دیجیتال و هیبرید ملایم عرضه شد.</a:t>
            </a:r>
          </a:p>
          <a:p>
            <a:pPr rtl="1" algn="r">
              <a:spcBef>
                <a:spcPts val="1000"/>
              </a:spcBef>
              <a:spcAft>
                <a:spcPts val="200"/>
              </a:spcAft>
            </a:pPr>
            <a:r>
              <a:rPr sz="1550" b="1" i="0">
                <a:solidFill>
                  <a:srgbClr val="102C50"/>
                </a:solidFill>
                <a:latin typeface="Tahoma"/>
                <a:ea typeface="Tahoma"/>
                <a:cs typeface="Tahoma"/>
              </a:rPr>
              <a:t>خانواده SUV</a:t>
            </a:r>
          </a:p>
          <a:p>
            <a:pPr rtl="1" algn="r">
              <a:spcBef>
                <a:spcPts val="100"/>
              </a:spcBef>
              <a:spcAft>
                <a:spcPts val="0"/>
              </a:spcAft>
            </a:pPr>
            <a:r>
              <a:rPr sz="1300" b="0" i="0">
                <a:solidFill>
                  <a:srgbClr val="222B36"/>
                </a:solidFill>
                <a:latin typeface="Tahoma"/>
                <a:ea typeface="Tahoma"/>
                <a:cs typeface="Tahoma"/>
              </a:rPr>
              <a:t>تی‌راک، تیگوآن، توآرگ و اطلس؛ پاسخی به تغییر سلیقه جهانی به سود شاسی‌بلندها.</a:t>
            </a:r>
          </a:p>
          <a:p>
            <a:pPr rtl="1" algn="r">
              <a:spcBef>
                <a:spcPts val="1000"/>
              </a:spcBef>
              <a:spcAft>
                <a:spcPts val="200"/>
              </a:spcAft>
            </a:pPr>
            <a:r>
              <a:rPr sz="1550" b="1" i="0">
                <a:solidFill>
                  <a:srgbClr val="102C50"/>
                </a:solidFill>
                <a:latin typeface="Tahoma"/>
                <a:ea typeface="Tahoma"/>
                <a:cs typeface="Tahoma"/>
              </a:rPr>
              <a:t>چالش‌های روز</a:t>
            </a:r>
          </a:p>
          <a:p>
            <a:pPr rtl="1" algn="r">
              <a:spcBef>
                <a:spcPts val="100"/>
              </a:spcBef>
              <a:spcAft>
                <a:spcPts val="0"/>
              </a:spcAft>
            </a:pPr>
            <a:r>
              <a:rPr sz="1300" b="0" i="0">
                <a:solidFill>
                  <a:srgbClr val="222B36"/>
                </a:solidFill>
                <a:latin typeface="Tahoma"/>
                <a:ea typeface="Tahoma"/>
                <a:cs typeface="Tahoma"/>
              </a:rPr>
              <a:t>رقابت قیمتی خودروسازان چینی، هزینه انرژی اروپا و برنامه کاهش هزینه و نیروی انسانی تا ۲۰۳۰.</a:t>
            </a:r>
          </a:p>
          <a:p>
            <a:pPr rtl="1" algn="r">
              <a:spcBef>
                <a:spcPts val="1000"/>
              </a:spcBef>
              <a:spcAft>
                <a:spcPts val="200"/>
              </a:spcAft>
            </a:pPr>
            <a:r>
              <a:rPr sz="1550" b="1" i="0">
                <a:solidFill>
                  <a:srgbClr val="102C50"/>
                </a:solidFill>
                <a:latin typeface="Tahoma"/>
                <a:ea typeface="Tahoma"/>
                <a:cs typeface="Tahoma"/>
              </a:rPr>
              <a:t>رهبری</a:t>
            </a:r>
          </a:p>
          <a:p>
            <a:pPr rtl="1" algn="r">
              <a:spcBef>
                <a:spcPts val="100"/>
              </a:spcBef>
              <a:spcAft>
                <a:spcPts val="0"/>
              </a:spcAft>
            </a:pPr>
            <a:r>
              <a:rPr sz="1300" b="0" i="0">
                <a:solidFill>
                  <a:srgbClr val="222B36"/>
                </a:solidFill>
                <a:latin typeface="Tahoma"/>
                <a:ea typeface="Tahoma"/>
                <a:cs typeface="Tahoma"/>
              </a:rPr>
              <a:t>الیور بلومه از ۲۰۲۲ سکان‌دار گروه و هم‌زمان رئیس پورشه است؛ اولویت‌ها: بهره‌وری، نرم‌افزار و بازارهای سودآور.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2695" y="6437376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C6B7A"/>
                </a:solidFill>
                <a:latin typeface="Tahoma"/>
                <a:ea typeface="Tahoma"/>
                <a:cs typeface="Tahoma"/>
              </a:rPr>
              <a:t>تاریخچه فولکس‌واگن  |  ۱۹۳۷ تا امروز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00800"/>
            <a:ext cx="7315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28BDC"/>
                </a:solidFill>
                <a:latin typeface="Tahoma"/>
                <a:ea typeface="Tahoma"/>
                <a:cs typeface="Tahoma"/>
              </a:rPr>
              <a:t>23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28BDC"/>
                </a:solidFill>
                <a:latin typeface="Tahoma"/>
                <a:ea typeface="Tahoma"/>
                <a:cs typeface="Tahoma"/>
              </a:rPr>
              <a:t>بخش چهاردهم — امروز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8585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81B33"/>
                </a:solidFill>
                <a:latin typeface="Tahoma"/>
                <a:ea typeface="Tahoma"/>
                <a:cs typeface="Tahoma"/>
              </a:rPr>
              <a:t>خودروهای تجاری: ستون پنهان سودآوری</a:t>
            </a:r>
          </a:p>
        </p:txBody>
      </p:sp>
      <p:sp>
        <p:nvSpPr>
          <p:cNvPr id="5" name="Rectangle 4"/>
          <p:cNvSpPr/>
          <p:nvPr/>
        </p:nvSpPr>
        <p:spPr>
          <a:xfrm>
            <a:off x="10454335" y="1225296"/>
            <a:ext cx="1234440" cy="41148"/>
          </a:xfrm>
          <a:prstGeom prst="rect">
            <a:avLst/>
          </a:prstGeom>
          <a:solidFill>
            <a:srgbClr val="128B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899855" y="1239012"/>
            <a:ext cx="1417320" cy="18288"/>
          </a:xfrm>
          <a:prstGeom prst="rect">
            <a:avLst/>
          </a:prstGeom>
          <a:solidFill>
            <a:srgbClr val="D5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ommercial.jpg"/>
          <p:cNvPicPr>
            <a:picLocks noChangeAspect="1"/>
          </p:cNvPicPr>
          <p:nvPr/>
        </p:nvPicPr>
        <p:blipFill>
          <a:blip r:embed="rId2"/>
          <a:srcRect t="13029" b="13029"/>
          <a:stretch>
            <a:fillRect/>
          </a:stretch>
        </p:blipFill>
        <p:spPr>
          <a:xfrm>
            <a:off x="502920" y="1572768"/>
            <a:ext cx="5166360" cy="2148840"/>
          </a:xfrm>
          <a:prstGeom prst="rect">
            <a:avLst/>
          </a:prstGeom>
          <a:ln w="34925">
            <a:solidFill>
              <a:srgbClr val="FFFFFF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02920" y="3767328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B7A"/>
                </a:solidFill>
                <a:latin typeface="Tahoma"/>
                <a:ea typeface="Tahoma"/>
                <a:cs typeface="Tahoma"/>
              </a:rPr>
              <a:t>کدی، ترانسپورتر و کراولر؛ ناوگان شهری اروپا</a:t>
            </a:r>
          </a:p>
        </p:txBody>
      </p:sp>
      <p:pic>
        <p:nvPicPr>
          <p:cNvPr id="9" name="Picture 8" descr="amarok.jpg"/>
          <p:cNvPicPr>
            <a:picLocks noChangeAspect="1"/>
          </p:cNvPicPr>
          <p:nvPr/>
        </p:nvPicPr>
        <p:blipFill>
          <a:blip r:embed="rId3"/>
          <a:srcRect t="24115" b="24115"/>
          <a:stretch>
            <a:fillRect/>
          </a:stretch>
        </p:blipFill>
        <p:spPr>
          <a:xfrm>
            <a:off x="502920" y="4114800"/>
            <a:ext cx="5166360" cy="1783080"/>
          </a:xfrm>
          <a:prstGeom prst="rect">
            <a:avLst/>
          </a:prstGeom>
          <a:ln w="34925">
            <a:solidFill>
              <a:srgbClr val="FFFFFF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502920" y="5943600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B7A"/>
                </a:solidFill>
                <a:latin typeface="Tahoma"/>
                <a:ea typeface="Tahoma"/>
                <a:cs typeface="Tahoma"/>
              </a:rPr>
              <a:t>آماروک؛ پیکاپ مشترک با فورد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06440" y="1572768"/>
            <a:ext cx="5879592" cy="4480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200"/>
              </a:spcAft>
            </a:pPr>
            <a:r>
              <a:rPr sz="1550" b="1" i="0">
                <a:solidFill>
                  <a:srgbClr val="102C50"/>
                </a:solidFill>
                <a:latin typeface="Tahoma"/>
                <a:ea typeface="Tahoma"/>
                <a:cs typeface="Tahoma"/>
              </a:rPr>
              <a:t>هفتاد و پنج سال ون</a:t>
            </a:r>
          </a:p>
          <a:p>
            <a:pPr rtl="1" algn="r">
              <a:spcBef>
                <a:spcPts val="100"/>
              </a:spcBef>
              <a:spcAft>
                <a:spcPts val="0"/>
              </a:spcAft>
            </a:pPr>
            <a:r>
              <a:rPr sz="1300" b="0" i="0">
                <a:solidFill>
                  <a:srgbClr val="222B36"/>
                </a:solidFill>
                <a:latin typeface="Tahoma"/>
                <a:ea typeface="Tahoma"/>
                <a:cs typeface="Tahoma"/>
              </a:rPr>
              <a:t>از بولی ۱۹۵۰ تا ترانسپورتر نسل هفتم (۲۰۴)؛ پیوسته‌ترین خط محصول تجاری اروپا.</a:t>
            </a:r>
          </a:p>
          <a:p>
            <a:pPr rtl="1" algn="r">
              <a:spcBef>
                <a:spcPts val="1000"/>
              </a:spcBef>
              <a:spcAft>
                <a:spcPts val="200"/>
              </a:spcAft>
            </a:pPr>
            <a:r>
              <a:rPr sz="1550" b="1" i="0">
                <a:solidFill>
                  <a:srgbClr val="102C50"/>
                </a:solidFill>
                <a:latin typeface="Tahoma"/>
                <a:ea typeface="Tahoma"/>
                <a:cs typeface="Tahoma"/>
              </a:rPr>
              <a:t>کدی و کراولر</a:t>
            </a:r>
          </a:p>
          <a:p>
            <a:pPr rtl="1" algn="r">
              <a:spcBef>
                <a:spcPts val="100"/>
              </a:spcBef>
              <a:spcAft>
                <a:spcPts val="0"/>
              </a:spcAft>
            </a:pPr>
            <a:r>
              <a:rPr sz="1300" b="0" i="0">
                <a:solidFill>
                  <a:srgbClr val="222B36"/>
                </a:solidFill>
                <a:latin typeface="Tahoma"/>
                <a:ea typeface="Tahoma"/>
                <a:cs typeface="Tahoma"/>
              </a:rPr>
              <a:t>پرفروش‌ترین ون‌های کوچک و بزرگ شهری در اروپا؛ ستون فقرات لجستیک آخرین مایل.</a:t>
            </a:r>
          </a:p>
          <a:p>
            <a:pPr rtl="1" algn="r">
              <a:spcBef>
                <a:spcPts val="1000"/>
              </a:spcBef>
              <a:spcAft>
                <a:spcPts val="200"/>
              </a:spcAft>
            </a:pPr>
            <a:r>
              <a:rPr sz="1550" b="1" i="0">
                <a:solidFill>
                  <a:srgbClr val="102C50"/>
                </a:solidFill>
                <a:latin typeface="Tahoma"/>
                <a:ea typeface="Tahoma"/>
                <a:cs typeface="Tahoma"/>
              </a:rPr>
              <a:t>آماروک</a:t>
            </a:r>
          </a:p>
          <a:p>
            <a:pPr rtl="1" algn="r">
              <a:spcBef>
                <a:spcPts val="100"/>
              </a:spcBef>
              <a:spcAft>
                <a:spcPts val="0"/>
              </a:spcAft>
            </a:pPr>
            <a:r>
              <a:rPr sz="1300" b="0" i="0">
                <a:solidFill>
                  <a:srgbClr val="222B36"/>
                </a:solidFill>
                <a:latin typeface="Tahoma"/>
                <a:ea typeface="Tahoma"/>
                <a:cs typeface="Tahoma"/>
              </a:rPr>
              <a:t>پیکاپ مشترک با فورد برای آمریکای جنوبی، آفریقا و استرالیا؛ نماد همکاری‌های جدید صنعتی.</a:t>
            </a:r>
          </a:p>
          <a:p>
            <a:pPr rtl="1" algn="r">
              <a:spcBef>
                <a:spcPts val="1000"/>
              </a:spcBef>
              <a:spcAft>
                <a:spcPts val="200"/>
              </a:spcAft>
            </a:pPr>
            <a:r>
              <a:rPr sz="1550" b="1" i="0">
                <a:solidFill>
                  <a:srgbClr val="102C50"/>
                </a:solidFill>
                <a:latin typeface="Tahoma"/>
                <a:ea typeface="Tahoma"/>
                <a:cs typeface="Tahoma"/>
              </a:rPr>
              <a:t>برقی‌سازی ناوگان</a:t>
            </a:r>
          </a:p>
          <a:p>
            <a:pPr rtl="1" algn="r">
              <a:spcBef>
                <a:spcPts val="100"/>
              </a:spcBef>
              <a:spcAft>
                <a:spcPts val="0"/>
              </a:spcAft>
            </a:pPr>
            <a:r>
              <a:rPr sz="1300" b="0" i="0">
                <a:solidFill>
                  <a:srgbClr val="222B36"/>
                </a:solidFill>
                <a:latin typeface="Tahoma"/>
                <a:ea typeface="Tahoma"/>
                <a:cs typeface="Tahoma"/>
              </a:rPr>
              <a:t>ID.Buzz Cargo و ترانسپورتر برقی، ناوگان‌های شهری را هدف گرفته‌اند.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2695" y="6437376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C6B7A"/>
                </a:solidFill>
                <a:latin typeface="Tahoma"/>
                <a:ea typeface="Tahoma"/>
                <a:cs typeface="Tahoma"/>
              </a:rPr>
              <a:t>تاریخچه فولکس‌واگن  |  ۱۹۳۷ تا امروز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00800"/>
            <a:ext cx="7315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28BDC"/>
                </a:solidFill>
                <a:latin typeface="Tahoma"/>
                <a:ea typeface="Tahoma"/>
                <a:cs typeface="Tahoma"/>
              </a:rPr>
              <a:t>24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28BDC"/>
                </a:solidFill>
                <a:latin typeface="Tahoma"/>
                <a:ea typeface="Tahoma"/>
                <a:cs typeface="Tahoma"/>
              </a:rPr>
              <a:t>بخش چهاردهم — امروز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8585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81B33"/>
                </a:solidFill>
                <a:latin typeface="Tahoma"/>
                <a:ea typeface="Tahoma"/>
                <a:cs typeface="Tahoma"/>
              </a:rPr>
              <a:t>ولفسبورگ و آتواشتات: خانه برند</a:t>
            </a:r>
          </a:p>
        </p:txBody>
      </p:sp>
      <p:sp>
        <p:nvSpPr>
          <p:cNvPr id="5" name="Rectangle 4"/>
          <p:cNvSpPr/>
          <p:nvPr/>
        </p:nvSpPr>
        <p:spPr>
          <a:xfrm>
            <a:off x="10454335" y="1225296"/>
            <a:ext cx="1234440" cy="41148"/>
          </a:xfrm>
          <a:prstGeom prst="rect">
            <a:avLst/>
          </a:prstGeom>
          <a:solidFill>
            <a:srgbClr val="128B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899855" y="1239012"/>
            <a:ext cx="1417320" cy="18288"/>
          </a:xfrm>
          <a:prstGeom prst="rect">
            <a:avLst/>
          </a:prstGeom>
          <a:solidFill>
            <a:srgbClr val="D5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utostadt.jpg"/>
          <p:cNvPicPr>
            <a:picLocks noChangeAspect="1"/>
          </p:cNvPicPr>
          <p:nvPr/>
        </p:nvPicPr>
        <p:blipFill>
          <a:blip r:embed="rId2"/>
          <a:srcRect t="12710" b="12710"/>
          <a:stretch>
            <a:fillRect/>
          </a:stretch>
        </p:blipFill>
        <p:spPr>
          <a:xfrm>
            <a:off x="502920" y="1572768"/>
            <a:ext cx="5166360" cy="2148840"/>
          </a:xfrm>
          <a:prstGeom prst="rect">
            <a:avLst/>
          </a:prstGeom>
          <a:ln w="34925">
            <a:solidFill>
              <a:srgbClr val="FFFFFF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02920" y="3767328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B7A"/>
                </a:solidFill>
                <a:latin typeface="Tahoma"/>
                <a:ea typeface="Tahoma"/>
                <a:cs typeface="Tahoma"/>
              </a:rPr>
              <a:t>محوطه آتواشتات و دریاچه مرکزی</a:t>
            </a:r>
          </a:p>
        </p:txBody>
      </p:sp>
      <p:pic>
        <p:nvPicPr>
          <p:cNvPr id="9" name="Picture 8" descr="glass_tower.jpg"/>
          <p:cNvPicPr>
            <a:picLocks noChangeAspect="1"/>
          </p:cNvPicPr>
          <p:nvPr/>
        </p:nvPicPr>
        <p:blipFill>
          <a:blip r:embed="rId3"/>
          <a:srcRect t="19322" b="19322"/>
          <a:stretch>
            <a:fillRect/>
          </a:stretch>
        </p:blipFill>
        <p:spPr>
          <a:xfrm>
            <a:off x="502920" y="4114800"/>
            <a:ext cx="5166360" cy="1783080"/>
          </a:xfrm>
          <a:prstGeom prst="rect">
            <a:avLst/>
          </a:prstGeom>
          <a:ln w="34925">
            <a:solidFill>
              <a:srgbClr val="FFFFFF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502920" y="5943600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B7A"/>
                </a:solidFill>
                <a:latin typeface="Tahoma"/>
                <a:ea typeface="Tahoma"/>
                <a:cs typeface="Tahoma"/>
              </a:rPr>
              <a:t>برج شیشه‌ای تحویل خودرو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06440" y="1572768"/>
            <a:ext cx="5879592" cy="4480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200"/>
              </a:spcAft>
            </a:pPr>
            <a:r>
              <a:rPr sz="1550" b="1" i="0">
                <a:solidFill>
                  <a:srgbClr val="102C50"/>
                </a:solidFill>
                <a:latin typeface="Tahoma"/>
                <a:ea typeface="Tahoma"/>
                <a:cs typeface="Tahoma"/>
              </a:rPr>
              <a:t>بزرگ‌ترین کارخانه خودرو</a:t>
            </a:r>
          </a:p>
          <a:p>
            <a:pPr rtl="1" algn="r">
              <a:spcBef>
                <a:spcPts val="100"/>
              </a:spcBef>
              <a:spcAft>
                <a:spcPts val="0"/>
              </a:spcAft>
            </a:pPr>
            <a:r>
              <a:rPr sz="1300" b="0" i="0">
                <a:solidFill>
                  <a:srgbClr val="222B36"/>
                </a:solidFill>
                <a:latin typeface="Tahoma"/>
                <a:ea typeface="Tahoma"/>
                <a:cs typeface="Tahoma"/>
              </a:rPr>
              <a:t>مجموعه ولفسبورگ با حدود ۶٫۵ کیلومتر مربع و نزدیک ۶۰ هزار کارمند، بزرگ‌ترین کارخانه خودروی جهان است.</a:t>
            </a:r>
          </a:p>
          <a:p>
            <a:pPr rtl="1" algn="r">
              <a:spcBef>
                <a:spcPts val="1000"/>
              </a:spcBef>
              <a:spcAft>
                <a:spcPts val="200"/>
              </a:spcAft>
            </a:pPr>
            <a:r>
              <a:rPr sz="1550" b="1" i="0">
                <a:solidFill>
                  <a:srgbClr val="102C50"/>
                </a:solidFill>
                <a:latin typeface="Tahoma"/>
                <a:ea typeface="Tahoma"/>
                <a:cs typeface="Tahoma"/>
              </a:rPr>
              <a:t>آتواشتات (۲۰۰۰)</a:t>
            </a:r>
          </a:p>
          <a:p>
            <a:pPr rtl="1" algn="r">
              <a:spcBef>
                <a:spcPts val="100"/>
              </a:spcBef>
              <a:spcAft>
                <a:spcPts val="0"/>
              </a:spcAft>
            </a:pPr>
            <a:r>
              <a:rPr sz="1300" b="0" i="0">
                <a:solidFill>
                  <a:srgbClr val="222B36"/>
                </a:solidFill>
                <a:latin typeface="Tahoma"/>
                <a:ea typeface="Tahoma"/>
                <a:cs typeface="Tahoma"/>
              </a:rPr>
              <a:t>موزه، پارک موضوعی و پاویون‌های برندها؛ سالانه بیش از دو میلیون بازدیدکننده.</a:t>
            </a:r>
          </a:p>
          <a:p>
            <a:pPr rtl="1" algn="r">
              <a:spcBef>
                <a:spcPts val="1000"/>
              </a:spcBef>
              <a:spcAft>
                <a:spcPts val="200"/>
              </a:spcAft>
            </a:pPr>
            <a:r>
              <a:rPr sz="1550" b="1" i="0">
                <a:solidFill>
                  <a:srgbClr val="102C50"/>
                </a:solidFill>
                <a:latin typeface="Tahoma"/>
                <a:ea typeface="Tahoma"/>
                <a:cs typeface="Tahoma"/>
              </a:rPr>
              <a:t>برج‌های تحویل</a:t>
            </a:r>
          </a:p>
          <a:p>
            <a:pPr rtl="1" algn="r">
              <a:spcBef>
                <a:spcPts val="100"/>
              </a:spcBef>
              <a:spcAft>
                <a:spcPts val="0"/>
              </a:spcAft>
            </a:pPr>
            <a:r>
              <a:rPr sz="1300" b="0" i="0">
                <a:solidFill>
                  <a:srgbClr val="222B36"/>
                </a:solidFill>
                <a:latin typeface="Tahoma"/>
                <a:ea typeface="Tahoma"/>
                <a:cs typeface="Tahoma"/>
              </a:rPr>
              <a:t>خودروی نو در سیلندر شیشه‌ای بالا می‌آید و مشتری آن را شخصاً تحویل می‌گیرد؛ نماد پیوند مشتری و کارخانه.</a:t>
            </a:r>
          </a:p>
          <a:p>
            <a:pPr rtl="1" algn="r">
              <a:spcBef>
                <a:spcPts val="1000"/>
              </a:spcBef>
              <a:spcAft>
                <a:spcPts val="200"/>
              </a:spcAft>
            </a:pPr>
            <a:r>
              <a:rPr sz="1550" b="1" i="0">
                <a:solidFill>
                  <a:srgbClr val="102C50"/>
                </a:solidFill>
                <a:latin typeface="Tahoma"/>
                <a:ea typeface="Tahoma"/>
                <a:cs typeface="Tahoma"/>
              </a:rPr>
              <a:t>شهر کارخانه‌ای</a:t>
            </a:r>
          </a:p>
          <a:p>
            <a:pPr rtl="1" algn="r">
              <a:spcBef>
                <a:spcPts val="100"/>
              </a:spcBef>
              <a:spcAft>
                <a:spcPts val="0"/>
              </a:spcAft>
            </a:pPr>
            <a:r>
              <a:rPr sz="1300" b="0" i="0">
                <a:solidFill>
                  <a:srgbClr val="222B36"/>
                </a:solidFill>
                <a:latin typeface="Tahoma"/>
                <a:ea typeface="Tahoma"/>
                <a:cs typeface="Tahoma"/>
              </a:rPr>
              <a:t>ولفسبورگ شهری است که با شرکت بزرگ شده؛ پیوندی هشتادساله میان یک برند و یک شهر.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2695" y="6437376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C6B7A"/>
                </a:solidFill>
                <a:latin typeface="Tahoma"/>
                <a:ea typeface="Tahoma"/>
                <a:cs typeface="Tahoma"/>
              </a:rPr>
              <a:t>تاریخچه فولکس‌واگن  |  ۱۹۳۷ تا امروز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00800"/>
            <a:ext cx="7315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28BDC"/>
                </a:solidFill>
                <a:latin typeface="Tahoma"/>
                <a:ea typeface="Tahoma"/>
                <a:cs typeface="Tahoma"/>
              </a:rPr>
              <a:t>25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28BDC"/>
                </a:solidFill>
                <a:latin typeface="Tahoma"/>
                <a:ea typeface="Tahoma"/>
                <a:cs typeface="Tahoma"/>
              </a:rPr>
              <a:t>پیوست یکم — خط زمانی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8585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81B33"/>
                </a:solidFill>
                <a:latin typeface="Tahoma"/>
                <a:ea typeface="Tahoma"/>
                <a:cs typeface="Tahoma"/>
              </a:rPr>
              <a:t>خط زمانی ۱۹۳۴–۱۹۵۹: از ایده تا افسانه</a:t>
            </a:r>
          </a:p>
        </p:txBody>
      </p:sp>
      <p:sp>
        <p:nvSpPr>
          <p:cNvPr id="5" name="Rectangle 4"/>
          <p:cNvSpPr/>
          <p:nvPr/>
        </p:nvSpPr>
        <p:spPr>
          <a:xfrm>
            <a:off x="10454335" y="1225296"/>
            <a:ext cx="1234440" cy="41148"/>
          </a:xfrm>
          <a:prstGeom prst="rect">
            <a:avLst/>
          </a:prstGeom>
          <a:solidFill>
            <a:srgbClr val="128B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899855" y="1239012"/>
            <a:ext cx="1417320" cy="18288"/>
          </a:xfrm>
          <a:prstGeom prst="rect">
            <a:avLst/>
          </a:prstGeom>
          <a:solidFill>
            <a:srgbClr val="D5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3246120"/>
            <a:ext cx="10911535" cy="27432"/>
          </a:xfrm>
          <a:prstGeom prst="rect">
            <a:avLst/>
          </a:prstGeom>
          <a:solidFill>
            <a:srgbClr val="C7D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62356" y="3182112"/>
            <a:ext cx="155448" cy="155448"/>
          </a:xfrm>
          <a:prstGeom prst="ellipse">
            <a:avLst/>
          </a:prstGeom>
          <a:solidFill>
            <a:srgbClr val="128BD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" y="1399031"/>
            <a:ext cx="1391220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c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28BDC"/>
                </a:solidFill>
                <a:latin typeface="Tahoma"/>
                <a:ea typeface="Tahoma"/>
                <a:cs typeface="Tahoma"/>
              </a:rPr>
              <a:t>۱۹۳۴</a:t>
            </a:r>
          </a:p>
          <a:p>
            <a:pPr rtl="1" algn="c"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102C50"/>
                </a:solidFill>
                <a:latin typeface="Tahoma"/>
                <a:ea typeface="Tahoma"/>
                <a:cs typeface="Tahoma"/>
              </a:rPr>
              <a:t>قرارداد طراحی</a:t>
            </a:r>
          </a:p>
          <a:p>
            <a:pPr rtl="1" algn="c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A"/>
                </a:solidFill>
                <a:latin typeface="Tahoma"/>
                <a:ea typeface="Tahoma"/>
                <a:cs typeface="Tahoma"/>
              </a:rPr>
              <a:t>سفارش «خودروی مردم» به پورشه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9107" y="3099815"/>
            <a:ext cx="21945" cy="109728"/>
          </a:xfrm>
          <a:prstGeom prst="rect">
            <a:avLst/>
          </a:prstGeom>
          <a:solidFill>
            <a:srgbClr val="C7D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926297" y="3182112"/>
            <a:ext cx="155448" cy="155448"/>
          </a:xfrm>
          <a:prstGeom prst="ellipse">
            <a:avLst/>
          </a:prstGeom>
          <a:solidFill>
            <a:srgbClr val="102C5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993049" y="3392424"/>
            <a:ext cx="21945" cy="109728"/>
          </a:xfrm>
          <a:prstGeom prst="rect">
            <a:avLst/>
          </a:prstGeom>
          <a:solidFill>
            <a:srgbClr val="C7D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08411" y="3538727"/>
            <a:ext cx="1391220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c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02C50"/>
                </a:solidFill>
                <a:latin typeface="Tahoma"/>
                <a:ea typeface="Tahoma"/>
                <a:cs typeface="Tahoma"/>
              </a:rPr>
              <a:t>۱۹۳۷</a:t>
            </a:r>
          </a:p>
          <a:p>
            <a:pPr rtl="1" algn="c"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102C50"/>
                </a:solidFill>
                <a:latin typeface="Tahoma"/>
                <a:ea typeface="Tahoma"/>
                <a:cs typeface="Tahoma"/>
              </a:rPr>
              <a:t>تأسیس شرکت</a:t>
            </a:r>
          </a:p>
          <a:p>
            <a:pPr rtl="1" algn="c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A"/>
                </a:solidFill>
                <a:latin typeface="Tahoma"/>
                <a:ea typeface="Tahoma"/>
                <a:cs typeface="Tahoma"/>
              </a:rPr>
              <a:t>Gezuvor در برلین</a:t>
            </a:r>
          </a:p>
        </p:txBody>
      </p:sp>
      <p:sp>
        <p:nvSpPr>
          <p:cNvPr id="14" name="Oval 13"/>
          <p:cNvSpPr/>
          <p:nvPr/>
        </p:nvSpPr>
        <p:spPr>
          <a:xfrm>
            <a:off x="3290239" y="3182112"/>
            <a:ext cx="155448" cy="155448"/>
          </a:xfrm>
          <a:prstGeom prst="ellipse">
            <a:avLst/>
          </a:prstGeom>
          <a:solidFill>
            <a:srgbClr val="128BD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72353" y="1399031"/>
            <a:ext cx="1391220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c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28BDC"/>
                </a:solidFill>
                <a:latin typeface="Tahoma"/>
                <a:ea typeface="Tahoma"/>
                <a:cs typeface="Tahoma"/>
              </a:rPr>
              <a:t>۱۹۳۸</a:t>
            </a:r>
          </a:p>
          <a:p>
            <a:pPr rtl="1" algn="c"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102C50"/>
                </a:solidFill>
                <a:latin typeface="Tahoma"/>
                <a:ea typeface="Tahoma"/>
                <a:cs typeface="Tahoma"/>
              </a:rPr>
              <a:t>سنگ‌بنای کارخانه</a:t>
            </a:r>
          </a:p>
          <a:p>
            <a:pPr rtl="1" algn="c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A"/>
                </a:solidFill>
                <a:latin typeface="Tahoma"/>
                <a:ea typeface="Tahoma"/>
                <a:cs typeface="Tahoma"/>
              </a:rPr>
              <a:t>ولفسبورگ و نام KdF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56991" y="3099815"/>
            <a:ext cx="21945" cy="109728"/>
          </a:xfrm>
          <a:prstGeom prst="rect">
            <a:avLst/>
          </a:prstGeom>
          <a:solidFill>
            <a:srgbClr val="C7D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654181" y="3182112"/>
            <a:ext cx="155448" cy="155448"/>
          </a:xfrm>
          <a:prstGeom prst="ellipse">
            <a:avLst/>
          </a:prstGeom>
          <a:solidFill>
            <a:srgbClr val="102C5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720932" y="3392424"/>
            <a:ext cx="21945" cy="109728"/>
          </a:xfrm>
          <a:prstGeom prst="rect">
            <a:avLst/>
          </a:prstGeom>
          <a:solidFill>
            <a:srgbClr val="C7D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036295" y="3538727"/>
            <a:ext cx="1391220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c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02C50"/>
                </a:solidFill>
                <a:latin typeface="Tahoma"/>
                <a:ea typeface="Tahoma"/>
                <a:cs typeface="Tahoma"/>
              </a:rPr>
              <a:t>۱۹۳۹</a:t>
            </a:r>
          </a:p>
          <a:p>
            <a:pPr rtl="1" algn="c"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102C50"/>
                </a:solidFill>
                <a:latin typeface="Tahoma"/>
                <a:ea typeface="Tahoma"/>
                <a:cs typeface="Tahoma"/>
              </a:rPr>
              <a:t>آغاز جنگ</a:t>
            </a:r>
          </a:p>
          <a:p>
            <a:pPr rtl="1" algn="c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A"/>
                </a:solidFill>
                <a:latin typeface="Tahoma"/>
                <a:ea typeface="Tahoma"/>
                <a:cs typeface="Tahoma"/>
              </a:rPr>
              <a:t>کارخانه در اقتصاد جنگی</a:t>
            </a:r>
          </a:p>
        </p:txBody>
      </p:sp>
      <p:sp>
        <p:nvSpPr>
          <p:cNvPr id="20" name="Oval 19"/>
          <p:cNvSpPr/>
          <p:nvPr/>
        </p:nvSpPr>
        <p:spPr>
          <a:xfrm>
            <a:off x="6018123" y="3182112"/>
            <a:ext cx="155448" cy="155448"/>
          </a:xfrm>
          <a:prstGeom prst="ellipse">
            <a:avLst/>
          </a:prstGeom>
          <a:solidFill>
            <a:srgbClr val="128BD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00237" y="1399031"/>
            <a:ext cx="1391220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c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28BDC"/>
                </a:solidFill>
                <a:latin typeface="Tahoma"/>
                <a:ea typeface="Tahoma"/>
                <a:cs typeface="Tahoma"/>
              </a:rPr>
              <a:t>۱۹۴۵</a:t>
            </a:r>
          </a:p>
          <a:p>
            <a:pPr rtl="1" algn="c"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102C50"/>
                </a:solidFill>
                <a:latin typeface="Tahoma"/>
                <a:ea typeface="Tahoma"/>
                <a:cs typeface="Tahoma"/>
              </a:rPr>
              <a:t>نجات بریتانیایی</a:t>
            </a:r>
          </a:p>
          <a:p>
            <a:pPr rtl="1" algn="c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A"/>
                </a:solidFill>
                <a:latin typeface="Tahoma"/>
                <a:ea typeface="Tahoma"/>
                <a:cs typeface="Tahoma"/>
              </a:rPr>
              <a:t>سرگرد هرست خط را روشن می‌کند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84874" y="3099815"/>
            <a:ext cx="21945" cy="109728"/>
          </a:xfrm>
          <a:prstGeom prst="rect">
            <a:avLst/>
          </a:prstGeom>
          <a:solidFill>
            <a:srgbClr val="C7D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382065" y="3182112"/>
            <a:ext cx="155448" cy="155448"/>
          </a:xfrm>
          <a:prstGeom prst="ellipse">
            <a:avLst/>
          </a:prstGeom>
          <a:solidFill>
            <a:srgbClr val="102C5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48816" y="3392424"/>
            <a:ext cx="21945" cy="109728"/>
          </a:xfrm>
          <a:prstGeom prst="rect">
            <a:avLst/>
          </a:prstGeom>
          <a:solidFill>
            <a:srgbClr val="C7D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4179" y="3538727"/>
            <a:ext cx="1391220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c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02C50"/>
                </a:solidFill>
                <a:latin typeface="Tahoma"/>
                <a:ea typeface="Tahoma"/>
                <a:cs typeface="Tahoma"/>
              </a:rPr>
              <a:t>۱۹۴۸</a:t>
            </a:r>
          </a:p>
          <a:p>
            <a:pPr rtl="1" algn="c"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102C50"/>
                </a:solidFill>
                <a:latin typeface="Tahoma"/>
                <a:ea typeface="Tahoma"/>
                <a:cs typeface="Tahoma"/>
              </a:rPr>
              <a:t>عصر نوردهوف</a:t>
            </a:r>
          </a:p>
          <a:p>
            <a:pPr rtl="1" algn="c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A"/>
                </a:solidFill>
                <a:latin typeface="Tahoma"/>
                <a:ea typeface="Tahoma"/>
                <a:cs typeface="Tahoma"/>
              </a:rPr>
              <a:t>آغاز مدیریت حرفه‌ای</a:t>
            </a:r>
          </a:p>
        </p:txBody>
      </p:sp>
      <p:sp>
        <p:nvSpPr>
          <p:cNvPr id="26" name="Oval 25"/>
          <p:cNvSpPr/>
          <p:nvPr/>
        </p:nvSpPr>
        <p:spPr>
          <a:xfrm>
            <a:off x="8746007" y="3182112"/>
            <a:ext cx="155448" cy="155448"/>
          </a:xfrm>
          <a:prstGeom prst="ellipse">
            <a:avLst/>
          </a:prstGeom>
          <a:solidFill>
            <a:srgbClr val="128BD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28121" y="1399031"/>
            <a:ext cx="1391220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c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28BDC"/>
                </a:solidFill>
                <a:latin typeface="Tahoma"/>
                <a:ea typeface="Tahoma"/>
                <a:cs typeface="Tahoma"/>
              </a:rPr>
              <a:t>۱۹۵۰</a:t>
            </a:r>
          </a:p>
          <a:p>
            <a:pPr rtl="1" algn="c"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102C50"/>
                </a:solidFill>
                <a:latin typeface="Tahoma"/>
                <a:ea typeface="Tahoma"/>
                <a:cs typeface="Tahoma"/>
              </a:rPr>
              <a:t>تولد بولی</a:t>
            </a:r>
          </a:p>
          <a:p>
            <a:pPr rtl="1" algn="c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A"/>
                </a:solidFill>
                <a:latin typeface="Tahoma"/>
                <a:ea typeface="Tahoma"/>
                <a:cs typeface="Tahoma"/>
              </a:rPr>
              <a:t>تیپ ۲ ترانسپورتر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12758" y="3099815"/>
            <a:ext cx="21945" cy="109728"/>
          </a:xfrm>
          <a:prstGeom prst="rect">
            <a:avLst/>
          </a:prstGeom>
          <a:solidFill>
            <a:srgbClr val="C7D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09949" y="3182112"/>
            <a:ext cx="155448" cy="155448"/>
          </a:xfrm>
          <a:prstGeom prst="ellipse">
            <a:avLst/>
          </a:prstGeom>
          <a:solidFill>
            <a:srgbClr val="102C5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176700" y="3392424"/>
            <a:ext cx="21945" cy="109728"/>
          </a:xfrm>
          <a:prstGeom prst="rect">
            <a:avLst/>
          </a:prstGeom>
          <a:solidFill>
            <a:srgbClr val="C7D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492062" y="3538727"/>
            <a:ext cx="1391220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c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02C50"/>
                </a:solidFill>
                <a:latin typeface="Tahoma"/>
                <a:ea typeface="Tahoma"/>
                <a:cs typeface="Tahoma"/>
              </a:rPr>
              <a:t>۱۹۵۵</a:t>
            </a:r>
          </a:p>
          <a:p>
            <a:pPr rtl="1" algn="c"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102C50"/>
                </a:solidFill>
                <a:latin typeface="Tahoma"/>
                <a:ea typeface="Tahoma"/>
                <a:cs typeface="Tahoma"/>
              </a:rPr>
              <a:t>یک‌میلیونمین بیتل</a:t>
            </a:r>
          </a:p>
          <a:p>
            <a:pPr rtl="1" algn="c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A"/>
                </a:solidFill>
                <a:latin typeface="Tahoma"/>
                <a:ea typeface="Tahoma"/>
                <a:cs typeface="Tahoma"/>
              </a:rPr>
              <a:t>جهانی‌شدن فروش</a:t>
            </a:r>
          </a:p>
        </p:txBody>
      </p:sp>
      <p:sp>
        <p:nvSpPr>
          <p:cNvPr id="32" name="Oval 31"/>
          <p:cNvSpPr/>
          <p:nvPr/>
        </p:nvSpPr>
        <p:spPr>
          <a:xfrm>
            <a:off x="11473891" y="3182112"/>
            <a:ext cx="155448" cy="155448"/>
          </a:xfrm>
          <a:prstGeom prst="ellipse">
            <a:avLst/>
          </a:prstGeom>
          <a:solidFill>
            <a:srgbClr val="128BD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690746" y="1399031"/>
            <a:ext cx="1391220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c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28BDC"/>
                </a:solidFill>
                <a:latin typeface="Tahoma"/>
                <a:ea typeface="Tahoma"/>
                <a:cs typeface="Tahoma"/>
              </a:rPr>
              <a:t>۱۹۵۹</a:t>
            </a:r>
          </a:p>
          <a:p>
            <a:pPr rtl="1" algn="c"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102C50"/>
                </a:solidFill>
                <a:latin typeface="Tahoma"/>
                <a:ea typeface="Tahoma"/>
                <a:cs typeface="Tahoma"/>
              </a:rPr>
              <a:t>فکر کوچک</a:t>
            </a:r>
          </a:p>
          <a:p>
            <a:pPr rtl="1" algn="c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A"/>
                </a:solidFill>
                <a:latin typeface="Tahoma"/>
                <a:ea typeface="Tahoma"/>
                <a:cs typeface="Tahoma"/>
              </a:rPr>
              <a:t>کمپین تاریخی DDB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1540642" y="3099815"/>
            <a:ext cx="21945" cy="109728"/>
          </a:xfrm>
          <a:prstGeom prst="rect">
            <a:avLst/>
          </a:prstGeom>
          <a:solidFill>
            <a:srgbClr val="C7D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5623560"/>
            <a:ext cx="1118585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5C6B7A"/>
                </a:solidFill>
                <a:latin typeface="Tahoma"/>
                <a:ea typeface="Tahoma"/>
                <a:cs typeface="Tahoma"/>
              </a:rPr>
              <a:t>در کمتر از یک نسل، شرکتی که برای جنگ ساخته شده بود به نماد صلح، رفاه و سبک تازه زندگی اروپا تبدیل شد؛ بی‌آنکه طرح اصلی بدنه‌اش تغییر جدی کند.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62695" y="6437376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C6B7A"/>
                </a:solidFill>
                <a:latin typeface="Tahoma"/>
                <a:ea typeface="Tahoma"/>
                <a:cs typeface="Tahoma"/>
              </a:rPr>
              <a:t>تاریخچه فولکس‌واگن  |  ۱۹۳۷ تا امروز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400800"/>
            <a:ext cx="7315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28BDC"/>
                </a:solidFill>
                <a:latin typeface="Tahoma"/>
                <a:ea typeface="Tahoma"/>
                <a:cs typeface="Tahoma"/>
              </a:rPr>
              <a:t>26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28BDC"/>
                </a:solidFill>
                <a:latin typeface="Tahoma"/>
                <a:ea typeface="Tahoma"/>
                <a:cs typeface="Tahoma"/>
              </a:rPr>
              <a:t>پیوست یکم — خط زمانی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8585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81B33"/>
                </a:solidFill>
                <a:latin typeface="Tahoma"/>
                <a:ea typeface="Tahoma"/>
                <a:cs typeface="Tahoma"/>
              </a:rPr>
              <a:t>خط زمانی ۱۹۶۱–۲۰۰۳: جهانی‌شدن و گذار بزرگ</a:t>
            </a:r>
          </a:p>
        </p:txBody>
      </p:sp>
      <p:sp>
        <p:nvSpPr>
          <p:cNvPr id="5" name="Rectangle 4"/>
          <p:cNvSpPr/>
          <p:nvPr/>
        </p:nvSpPr>
        <p:spPr>
          <a:xfrm>
            <a:off x="10454335" y="1225296"/>
            <a:ext cx="1234440" cy="41148"/>
          </a:xfrm>
          <a:prstGeom prst="rect">
            <a:avLst/>
          </a:prstGeom>
          <a:solidFill>
            <a:srgbClr val="128B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899855" y="1239012"/>
            <a:ext cx="1417320" cy="18288"/>
          </a:xfrm>
          <a:prstGeom prst="rect">
            <a:avLst/>
          </a:prstGeom>
          <a:solidFill>
            <a:srgbClr val="D5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3246120"/>
            <a:ext cx="10911535" cy="27432"/>
          </a:xfrm>
          <a:prstGeom prst="rect">
            <a:avLst/>
          </a:prstGeom>
          <a:solidFill>
            <a:srgbClr val="C7D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62356" y="3182112"/>
            <a:ext cx="155448" cy="155448"/>
          </a:xfrm>
          <a:prstGeom prst="ellipse">
            <a:avLst/>
          </a:prstGeom>
          <a:solidFill>
            <a:srgbClr val="128BD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" y="1399031"/>
            <a:ext cx="1391220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c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28BDC"/>
                </a:solidFill>
                <a:latin typeface="Tahoma"/>
                <a:ea typeface="Tahoma"/>
                <a:cs typeface="Tahoma"/>
              </a:rPr>
              <a:t>۱۹۶۱</a:t>
            </a:r>
          </a:p>
          <a:p>
            <a:pPr rtl="1" algn="c"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102C50"/>
                </a:solidFill>
                <a:latin typeface="Tahoma"/>
                <a:ea typeface="Tahoma"/>
                <a:cs typeface="Tahoma"/>
              </a:rPr>
              <a:t>تیپ ۳</a:t>
            </a:r>
          </a:p>
          <a:p>
            <a:pPr rtl="1" algn="c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A"/>
                </a:solidFill>
                <a:latin typeface="Tahoma"/>
                <a:ea typeface="Tahoma"/>
                <a:cs typeface="Tahoma"/>
              </a:rPr>
              <a:t>گسترش خانواده بیتل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9107" y="3099815"/>
            <a:ext cx="21945" cy="109728"/>
          </a:xfrm>
          <a:prstGeom prst="rect">
            <a:avLst/>
          </a:prstGeom>
          <a:solidFill>
            <a:srgbClr val="C7D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926297" y="3182112"/>
            <a:ext cx="155448" cy="155448"/>
          </a:xfrm>
          <a:prstGeom prst="ellipse">
            <a:avLst/>
          </a:prstGeom>
          <a:solidFill>
            <a:srgbClr val="102C5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993049" y="3392424"/>
            <a:ext cx="21945" cy="109728"/>
          </a:xfrm>
          <a:prstGeom prst="rect">
            <a:avLst/>
          </a:prstGeom>
          <a:solidFill>
            <a:srgbClr val="C7D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08411" y="3538727"/>
            <a:ext cx="1391220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c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02C50"/>
                </a:solidFill>
                <a:latin typeface="Tahoma"/>
                <a:ea typeface="Tahoma"/>
                <a:cs typeface="Tahoma"/>
              </a:rPr>
              <a:t>۱۹۶۴</a:t>
            </a:r>
          </a:p>
          <a:p>
            <a:pPr rtl="1" algn="c"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102C50"/>
                </a:solidFill>
                <a:latin typeface="Tahoma"/>
                <a:ea typeface="Tahoma"/>
                <a:cs typeface="Tahoma"/>
              </a:rPr>
              <a:t>خرید اتو یونیون</a:t>
            </a:r>
          </a:p>
          <a:p>
            <a:pPr rtl="1" algn="c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A"/>
                </a:solidFill>
                <a:latin typeface="Tahoma"/>
                <a:ea typeface="Tahoma"/>
                <a:cs typeface="Tahoma"/>
              </a:rPr>
              <a:t>تولد دوباره آئودی</a:t>
            </a:r>
          </a:p>
        </p:txBody>
      </p:sp>
      <p:sp>
        <p:nvSpPr>
          <p:cNvPr id="14" name="Oval 13"/>
          <p:cNvSpPr/>
          <p:nvPr/>
        </p:nvSpPr>
        <p:spPr>
          <a:xfrm>
            <a:off x="3290239" y="3182112"/>
            <a:ext cx="155448" cy="155448"/>
          </a:xfrm>
          <a:prstGeom prst="ellipse">
            <a:avLst/>
          </a:prstGeom>
          <a:solidFill>
            <a:srgbClr val="128BD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72353" y="1399031"/>
            <a:ext cx="1391220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c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28BDC"/>
                </a:solidFill>
                <a:latin typeface="Tahoma"/>
                <a:ea typeface="Tahoma"/>
                <a:cs typeface="Tahoma"/>
              </a:rPr>
              <a:t>۱۹۶۷</a:t>
            </a:r>
          </a:p>
          <a:p>
            <a:pPr rtl="1" algn="c"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102C50"/>
                </a:solidFill>
                <a:latin typeface="Tahoma"/>
                <a:ea typeface="Tahoma"/>
                <a:cs typeface="Tahoma"/>
              </a:rPr>
              <a:t>کارخانه پوئبلا</a:t>
            </a:r>
          </a:p>
          <a:p>
            <a:pPr rtl="1" algn="c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A"/>
                </a:solidFill>
                <a:latin typeface="Tahoma"/>
                <a:ea typeface="Tahoma"/>
                <a:cs typeface="Tahoma"/>
              </a:rPr>
              <a:t>قطب مکزیک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56991" y="3099815"/>
            <a:ext cx="21945" cy="109728"/>
          </a:xfrm>
          <a:prstGeom prst="rect">
            <a:avLst/>
          </a:prstGeom>
          <a:solidFill>
            <a:srgbClr val="C7D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654181" y="3182112"/>
            <a:ext cx="155448" cy="155448"/>
          </a:xfrm>
          <a:prstGeom prst="ellipse">
            <a:avLst/>
          </a:prstGeom>
          <a:solidFill>
            <a:srgbClr val="102C5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720932" y="3392424"/>
            <a:ext cx="21945" cy="109728"/>
          </a:xfrm>
          <a:prstGeom prst="rect">
            <a:avLst/>
          </a:prstGeom>
          <a:solidFill>
            <a:srgbClr val="C7D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036295" y="3538727"/>
            <a:ext cx="1391220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c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02C50"/>
                </a:solidFill>
                <a:latin typeface="Tahoma"/>
                <a:ea typeface="Tahoma"/>
                <a:cs typeface="Tahoma"/>
              </a:rPr>
              <a:t>۱۹۷۲</a:t>
            </a:r>
          </a:p>
          <a:p>
            <a:pPr rtl="1" algn="c"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102C50"/>
                </a:solidFill>
                <a:latin typeface="Tahoma"/>
                <a:ea typeface="Tahoma"/>
                <a:cs typeface="Tahoma"/>
              </a:rPr>
              <a:t>شکستن رکورد مدل T</a:t>
            </a:r>
          </a:p>
          <a:p>
            <a:pPr rtl="1" algn="c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A"/>
                </a:solidFill>
                <a:latin typeface="Tahoma"/>
                <a:ea typeface="Tahoma"/>
                <a:cs typeface="Tahoma"/>
              </a:rPr>
              <a:t>بیتل پرفروش‌ترین خودروی تاریخ</a:t>
            </a:r>
          </a:p>
        </p:txBody>
      </p:sp>
      <p:sp>
        <p:nvSpPr>
          <p:cNvPr id="20" name="Oval 19"/>
          <p:cNvSpPr/>
          <p:nvPr/>
        </p:nvSpPr>
        <p:spPr>
          <a:xfrm>
            <a:off x="6018123" y="3182112"/>
            <a:ext cx="155448" cy="155448"/>
          </a:xfrm>
          <a:prstGeom prst="ellipse">
            <a:avLst/>
          </a:prstGeom>
          <a:solidFill>
            <a:srgbClr val="128BD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00237" y="1399031"/>
            <a:ext cx="1391220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c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28BDC"/>
                </a:solidFill>
                <a:latin typeface="Tahoma"/>
                <a:ea typeface="Tahoma"/>
                <a:cs typeface="Tahoma"/>
              </a:rPr>
              <a:t>۱۹۷۴</a:t>
            </a:r>
          </a:p>
          <a:p>
            <a:pPr rtl="1" algn="c"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102C50"/>
                </a:solidFill>
                <a:latin typeface="Tahoma"/>
                <a:ea typeface="Tahoma"/>
                <a:cs typeface="Tahoma"/>
              </a:rPr>
              <a:t>تولد گلف</a:t>
            </a:r>
          </a:p>
          <a:p>
            <a:pPr rtl="1" algn="c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A"/>
                </a:solidFill>
                <a:latin typeface="Tahoma"/>
                <a:ea typeface="Tahoma"/>
                <a:cs typeface="Tahoma"/>
              </a:rPr>
              <a:t>نجات شرکت در بحران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84874" y="3099815"/>
            <a:ext cx="21945" cy="109728"/>
          </a:xfrm>
          <a:prstGeom prst="rect">
            <a:avLst/>
          </a:prstGeom>
          <a:solidFill>
            <a:srgbClr val="C7D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382065" y="3182112"/>
            <a:ext cx="155448" cy="155448"/>
          </a:xfrm>
          <a:prstGeom prst="ellipse">
            <a:avLst/>
          </a:prstGeom>
          <a:solidFill>
            <a:srgbClr val="102C5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48816" y="3392424"/>
            <a:ext cx="21945" cy="109728"/>
          </a:xfrm>
          <a:prstGeom prst="rect">
            <a:avLst/>
          </a:prstGeom>
          <a:solidFill>
            <a:srgbClr val="C7D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4179" y="3538727"/>
            <a:ext cx="1391220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c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02C50"/>
                </a:solidFill>
                <a:latin typeface="Tahoma"/>
                <a:ea typeface="Tahoma"/>
                <a:cs typeface="Tahoma"/>
              </a:rPr>
              <a:t>۱۹۷۶</a:t>
            </a:r>
          </a:p>
          <a:p>
            <a:pPr rtl="1" algn="c"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102C50"/>
                </a:solidFill>
                <a:latin typeface="Tahoma"/>
                <a:ea typeface="Tahoma"/>
                <a:cs typeface="Tahoma"/>
              </a:rPr>
              <a:t>GTI و جتا</a:t>
            </a:r>
          </a:p>
          <a:p>
            <a:pPr rtl="1" algn="c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A"/>
                </a:solidFill>
                <a:latin typeface="Tahoma"/>
                <a:ea typeface="Tahoma"/>
                <a:cs typeface="Tahoma"/>
              </a:rPr>
              <a:t>هاچ‌بک گرم متولد می‌شود</a:t>
            </a:r>
          </a:p>
        </p:txBody>
      </p:sp>
      <p:sp>
        <p:nvSpPr>
          <p:cNvPr id="26" name="Oval 25"/>
          <p:cNvSpPr/>
          <p:nvPr/>
        </p:nvSpPr>
        <p:spPr>
          <a:xfrm>
            <a:off x="8746007" y="3182112"/>
            <a:ext cx="155448" cy="155448"/>
          </a:xfrm>
          <a:prstGeom prst="ellipse">
            <a:avLst/>
          </a:prstGeom>
          <a:solidFill>
            <a:srgbClr val="128BD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28121" y="1399031"/>
            <a:ext cx="1391220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c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28BDC"/>
                </a:solidFill>
                <a:latin typeface="Tahoma"/>
                <a:ea typeface="Tahoma"/>
                <a:cs typeface="Tahoma"/>
              </a:rPr>
              <a:t>۱۹۸۴</a:t>
            </a:r>
          </a:p>
          <a:p>
            <a:pPr rtl="1" algn="c"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102C50"/>
                </a:solidFill>
                <a:latin typeface="Tahoma"/>
                <a:ea typeface="Tahoma"/>
                <a:cs typeface="Tahoma"/>
              </a:rPr>
              <a:t>ورود به چین</a:t>
            </a:r>
          </a:p>
          <a:p>
            <a:pPr rtl="1" algn="c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A"/>
                </a:solidFill>
                <a:latin typeface="Tahoma"/>
                <a:ea typeface="Tahoma"/>
                <a:cs typeface="Tahoma"/>
              </a:rPr>
              <a:t>نخستین سرمایه‌گذاری مشترک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12758" y="3099815"/>
            <a:ext cx="21945" cy="109728"/>
          </a:xfrm>
          <a:prstGeom prst="rect">
            <a:avLst/>
          </a:prstGeom>
          <a:solidFill>
            <a:srgbClr val="C7D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09949" y="3182112"/>
            <a:ext cx="155448" cy="155448"/>
          </a:xfrm>
          <a:prstGeom prst="ellipse">
            <a:avLst/>
          </a:prstGeom>
          <a:solidFill>
            <a:srgbClr val="102C5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176700" y="3392424"/>
            <a:ext cx="21945" cy="109728"/>
          </a:xfrm>
          <a:prstGeom prst="rect">
            <a:avLst/>
          </a:prstGeom>
          <a:solidFill>
            <a:srgbClr val="C7D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492062" y="3538727"/>
            <a:ext cx="1391220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c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02C50"/>
                </a:solidFill>
                <a:latin typeface="Tahoma"/>
                <a:ea typeface="Tahoma"/>
                <a:cs typeface="Tahoma"/>
              </a:rPr>
              <a:t>۱۹۹۸</a:t>
            </a:r>
          </a:p>
          <a:p>
            <a:pPr rtl="1" algn="c"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102C50"/>
                </a:solidFill>
                <a:latin typeface="Tahoma"/>
                <a:ea typeface="Tahoma"/>
                <a:cs typeface="Tahoma"/>
              </a:rPr>
              <a:t>بیتل نو + برندهای لوکس</a:t>
            </a:r>
          </a:p>
          <a:p>
            <a:pPr rtl="1" algn="c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A"/>
                </a:solidFill>
                <a:latin typeface="Tahoma"/>
                <a:ea typeface="Tahoma"/>
                <a:cs typeface="Tahoma"/>
              </a:rPr>
              <a:t>بنتلی، بوگاتی، لامبورگینی</a:t>
            </a:r>
          </a:p>
        </p:txBody>
      </p:sp>
      <p:sp>
        <p:nvSpPr>
          <p:cNvPr id="32" name="Oval 31"/>
          <p:cNvSpPr/>
          <p:nvPr/>
        </p:nvSpPr>
        <p:spPr>
          <a:xfrm>
            <a:off x="11473891" y="3182112"/>
            <a:ext cx="155448" cy="155448"/>
          </a:xfrm>
          <a:prstGeom prst="ellipse">
            <a:avLst/>
          </a:prstGeom>
          <a:solidFill>
            <a:srgbClr val="128BD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690746" y="1399031"/>
            <a:ext cx="1391220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c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28BDC"/>
                </a:solidFill>
                <a:latin typeface="Tahoma"/>
                <a:ea typeface="Tahoma"/>
                <a:cs typeface="Tahoma"/>
              </a:rPr>
              <a:t>۲۰۰۳</a:t>
            </a:r>
          </a:p>
          <a:p>
            <a:pPr rtl="1" algn="c"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102C50"/>
                </a:solidFill>
                <a:latin typeface="Tahoma"/>
                <a:ea typeface="Tahoma"/>
                <a:cs typeface="Tahoma"/>
              </a:rPr>
              <a:t>پایان بیتل کلاسیک</a:t>
            </a:r>
          </a:p>
          <a:p>
            <a:pPr rtl="1" algn="c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A"/>
                </a:solidFill>
                <a:latin typeface="Tahoma"/>
                <a:ea typeface="Tahoma"/>
                <a:cs typeface="Tahoma"/>
              </a:rPr>
              <a:t>دستگاه شماره ۲۱٬۵۲۹٬۴۶۴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1540642" y="3099815"/>
            <a:ext cx="21945" cy="109728"/>
          </a:xfrm>
          <a:prstGeom prst="rect">
            <a:avLst/>
          </a:prstGeom>
          <a:solidFill>
            <a:srgbClr val="C7D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5623560"/>
            <a:ext cx="1118585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5C6B7A"/>
                </a:solidFill>
                <a:latin typeface="Tahoma"/>
                <a:ea typeface="Tahoma"/>
                <a:cs typeface="Tahoma"/>
              </a:rPr>
              <a:t>از تک‌محصولی به امپراتوری برندها: چهار دهه‌ای که فولکس‌واگن را از یک کارخانه آلمانی به گروهی چندقاره‌ای تبدیل کرد.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62695" y="6437376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C6B7A"/>
                </a:solidFill>
                <a:latin typeface="Tahoma"/>
                <a:ea typeface="Tahoma"/>
                <a:cs typeface="Tahoma"/>
              </a:rPr>
              <a:t>تاریخچه فولکس‌واگن  |  ۱۹۳۷ تا امروز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400800"/>
            <a:ext cx="7315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28BDC"/>
                </a:solidFill>
                <a:latin typeface="Tahoma"/>
                <a:ea typeface="Tahoma"/>
                <a:cs typeface="Tahoma"/>
              </a:rPr>
              <a:t>27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28BDC"/>
                </a:solidFill>
                <a:latin typeface="Tahoma"/>
                <a:ea typeface="Tahoma"/>
                <a:cs typeface="Tahoma"/>
              </a:rPr>
              <a:t>پیوست یکم — خط زمانی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8585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81B33"/>
                </a:solidFill>
                <a:latin typeface="Tahoma"/>
                <a:ea typeface="Tahoma"/>
                <a:cs typeface="Tahoma"/>
              </a:rPr>
              <a:t>خط زمانی ۲۰۰۹–۲۰۲۵: بحران، برقی‌سازی و بازسازی</a:t>
            </a:r>
          </a:p>
        </p:txBody>
      </p:sp>
      <p:sp>
        <p:nvSpPr>
          <p:cNvPr id="5" name="Rectangle 4"/>
          <p:cNvSpPr/>
          <p:nvPr/>
        </p:nvSpPr>
        <p:spPr>
          <a:xfrm>
            <a:off x="10454335" y="1225296"/>
            <a:ext cx="1234440" cy="41148"/>
          </a:xfrm>
          <a:prstGeom prst="rect">
            <a:avLst/>
          </a:prstGeom>
          <a:solidFill>
            <a:srgbClr val="128B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899855" y="1239012"/>
            <a:ext cx="1417320" cy="18288"/>
          </a:xfrm>
          <a:prstGeom prst="rect">
            <a:avLst/>
          </a:prstGeom>
          <a:solidFill>
            <a:srgbClr val="D5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3246120"/>
            <a:ext cx="10911535" cy="27432"/>
          </a:xfrm>
          <a:prstGeom prst="rect">
            <a:avLst/>
          </a:prstGeom>
          <a:solidFill>
            <a:srgbClr val="C7D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62356" y="3182112"/>
            <a:ext cx="155448" cy="155448"/>
          </a:xfrm>
          <a:prstGeom prst="ellipse">
            <a:avLst/>
          </a:prstGeom>
          <a:solidFill>
            <a:srgbClr val="128BD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" y="1399031"/>
            <a:ext cx="1391220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c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28BDC"/>
                </a:solidFill>
                <a:latin typeface="Tahoma"/>
                <a:ea typeface="Tahoma"/>
                <a:cs typeface="Tahoma"/>
              </a:rPr>
              <a:t>۲۰۰۹</a:t>
            </a:r>
          </a:p>
          <a:p>
            <a:pPr rtl="1" algn="c"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102C50"/>
                </a:solidFill>
                <a:latin typeface="Tahoma"/>
                <a:ea typeface="Tahoma"/>
                <a:cs typeface="Tahoma"/>
              </a:rPr>
              <a:t>نبرد پورشه</a:t>
            </a:r>
          </a:p>
          <a:p>
            <a:pPr rtl="1" algn="c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A"/>
                </a:solidFill>
                <a:latin typeface="Tahoma"/>
                <a:ea typeface="Tahoma"/>
                <a:cs typeface="Tahoma"/>
              </a:rPr>
              <a:t>ادغام در ۲۰۱۲ کامل می‌شود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9107" y="3099815"/>
            <a:ext cx="21945" cy="109728"/>
          </a:xfrm>
          <a:prstGeom prst="rect">
            <a:avLst/>
          </a:prstGeom>
          <a:solidFill>
            <a:srgbClr val="C7D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926297" y="3182112"/>
            <a:ext cx="155448" cy="155448"/>
          </a:xfrm>
          <a:prstGeom prst="ellipse">
            <a:avLst/>
          </a:prstGeom>
          <a:solidFill>
            <a:srgbClr val="102C5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993049" y="3392424"/>
            <a:ext cx="21945" cy="109728"/>
          </a:xfrm>
          <a:prstGeom prst="rect">
            <a:avLst/>
          </a:prstGeom>
          <a:solidFill>
            <a:srgbClr val="C7D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08411" y="3538727"/>
            <a:ext cx="1391220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c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02C50"/>
                </a:solidFill>
                <a:latin typeface="Tahoma"/>
                <a:ea typeface="Tahoma"/>
                <a:cs typeface="Tahoma"/>
              </a:rPr>
              <a:t>۲۰۱۳</a:t>
            </a:r>
          </a:p>
          <a:p>
            <a:pPr rtl="1" algn="c"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102C50"/>
                </a:solidFill>
                <a:latin typeface="Tahoma"/>
                <a:ea typeface="Tahoma"/>
                <a:cs typeface="Tahoma"/>
              </a:rPr>
              <a:t>سلطه WRC</a:t>
            </a:r>
          </a:p>
          <a:p>
            <a:pPr rtl="1" algn="c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A"/>
                </a:solidFill>
                <a:latin typeface="Tahoma"/>
                <a:ea typeface="Tahoma"/>
                <a:cs typeface="Tahoma"/>
              </a:rPr>
              <a:t>چهار قهرمانی پیاپی رالی جهان</a:t>
            </a:r>
          </a:p>
        </p:txBody>
      </p:sp>
      <p:sp>
        <p:nvSpPr>
          <p:cNvPr id="14" name="Oval 13"/>
          <p:cNvSpPr/>
          <p:nvPr/>
        </p:nvSpPr>
        <p:spPr>
          <a:xfrm>
            <a:off x="3290239" y="3182112"/>
            <a:ext cx="155448" cy="155448"/>
          </a:xfrm>
          <a:prstGeom prst="ellipse">
            <a:avLst/>
          </a:prstGeom>
          <a:solidFill>
            <a:srgbClr val="128BD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72353" y="1399031"/>
            <a:ext cx="1391220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c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28BDC"/>
                </a:solidFill>
                <a:latin typeface="Tahoma"/>
                <a:ea typeface="Tahoma"/>
                <a:cs typeface="Tahoma"/>
              </a:rPr>
              <a:t>۲۰۱۵</a:t>
            </a:r>
          </a:p>
          <a:p>
            <a:pPr rtl="1" algn="c"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102C50"/>
                </a:solidFill>
                <a:latin typeface="Tahoma"/>
                <a:ea typeface="Tahoma"/>
                <a:cs typeface="Tahoma"/>
              </a:rPr>
              <a:t>دیزل‌گیت</a:t>
            </a:r>
          </a:p>
          <a:p>
            <a:pPr rtl="1" algn="c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A"/>
                </a:solidFill>
                <a:latin typeface="Tahoma"/>
                <a:ea typeface="Tahoma"/>
                <a:cs typeface="Tahoma"/>
              </a:rPr>
              <a:t>بزرگ‌ترین بحران اعتماد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56991" y="3099815"/>
            <a:ext cx="21945" cy="109728"/>
          </a:xfrm>
          <a:prstGeom prst="rect">
            <a:avLst/>
          </a:prstGeom>
          <a:solidFill>
            <a:srgbClr val="C7D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654181" y="3182112"/>
            <a:ext cx="155448" cy="155448"/>
          </a:xfrm>
          <a:prstGeom prst="ellipse">
            <a:avLst/>
          </a:prstGeom>
          <a:solidFill>
            <a:srgbClr val="102C5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720932" y="3392424"/>
            <a:ext cx="21945" cy="109728"/>
          </a:xfrm>
          <a:prstGeom prst="rect">
            <a:avLst/>
          </a:prstGeom>
          <a:solidFill>
            <a:srgbClr val="C7D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036295" y="3538727"/>
            <a:ext cx="1391220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c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02C50"/>
                </a:solidFill>
                <a:latin typeface="Tahoma"/>
                <a:ea typeface="Tahoma"/>
                <a:cs typeface="Tahoma"/>
              </a:rPr>
              <a:t>۲۰۱۶</a:t>
            </a:r>
          </a:p>
          <a:p>
            <a:pPr rtl="1" algn="c"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102C50"/>
                </a:solidFill>
                <a:latin typeface="Tahoma"/>
                <a:ea typeface="Tahoma"/>
                <a:cs typeface="Tahoma"/>
              </a:rPr>
              <a:t>استراتژی ۲۰۲۵</a:t>
            </a:r>
          </a:p>
          <a:p>
            <a:pPr rtl="1" algn="c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A"/>
                </a:solidFill>
                <a:latin typeface="Tahoma"/>
                <a:ea typeface="Tahoma"/>
                <a:cs typeface="Tahoma"/>
              </a:rPr>
              <a:t>برقی‌سازی در مرکز برنامه</a:t>
            </a:r>
          </a:p>
        </p:txBody>
      </p:sp>
      <p:sp>
        <p:nvSpPr>
          <p:cNvPr id="20" name="Oval 19"/>
          <p:cNvSpPr/>
          <p:nvPr/>
        </p:nvSpPr>
        <p:spPr>
          <a:xfrm>
            <a:off x="6018123" y="3182112"/>
            <a:ext cx="155448" cy="155448"/>
          </a:xfrm>
          <a:prstGeom prst="ellipse">
            <a:avLst/>
          </a:prstGeom>
          <a:solidFill>
            <a:srgbClr val="128BD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00237" y="1399031"/>
            <a:ext cx="1391220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c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28BDC"/>
                </a:solidFill>
                <a:latin typeface="Tahoma"/>
                <a:ea typeface="Tahoma"/>
                <a:cs typeface="Tahoma"/>
              </a:rPr>
              <a:t>۲۰۱۹</a:t>
            </a:r>
          </a:p>
          <a:p>
            <a:pPr rtl="1" algn="c"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102C50"/>
                </a:solidFill>
                <a:latin typeface="Tahoma"/>
                <a:ea typeface="Tahoma"/>
                <a:cs typeface="Tahoma"/>
              </a:rPr>
              <a:t>تسویکاو برقی</a:t>
            </a:r>
          </a:p>
          <a:p>
            <a:pPr rtl="1" algn="c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A"/>
                </a:solidFill>
                <a:latin typeface="Tahoma"/>
                <a:ea typeface="Tahoma"/>
                <a:cs typeface="Tahoma"/>
              </a:rPr>
              <a:t>عرضه ID.3 در فرانکفورت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84874" y="3099815"/>
            <a:ext cx="21945" cy="109728"/>
          </a:xfrm>
          <a:prstGeom prst="rect">
            <a:avLst/>
          </a:prstGeom>
          <a:solidFill>
            <a:srgbClr val="C7D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382065" y="3182112"/>
            <a:ext cx="155448" cy="155448"/>
          </a:xfrm>
          <a:prstGeom prst="ellipse">
            <a:avLst/>
          </a:prstGeom>
          <a:solidFill>
            <a:srgbClr val="102C5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48816" y="3392424"/>
            <a:ext cx="21945" cy="109728"/>
          </a:xfrm>
          <a:prstGeom prst="rect">
            <a:avLst/>
          </a:prstGeom>
          <a:solidFill>
            <a:srgbClr val="C7D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4179" y="3538727"/>
            <a:ext cx="1391220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c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02C50"/>
                </a:solidFill>
                <a:latin typeface="Tahoma"/>
                <a:ea typeface="Tahoma"/>
                <a:cs typeface="Tahoma"/>
              </a:rPr>
              <a:t>۲۰۲۰</a:t>
            </a:r>
          </a:p>
          <a:p>
            <a:pPr rtl="1" algn="c"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102C50"/>
                </a:solidFill>
                <a:latin typeface="Tahoma"/>
                <a:ea typeface="Tahoma"/>
                <a:cs typeface="Tahoma"/>
              </a:rPr>
              <a:t>ID.4</a:t>
            </a:r>
          </a:p>
          <a:p>
            <a:pPr rtl="1" algn="c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A"/>
                </a:solidFill>
                <a:latin typeface="Tahoma"/>
                <a:ea typeface="Tahoma"/>
                <a:cs typeface="Tahoma"/>
              </a:rPr>
              <a:t>SUV برقی جهانی</a:t>
            </a:r>
          </a:p>
        </p:txBody>
      </p:sp>
      <p:sp>
        <p:nvSpPr>
          <p:cNvPr id="26" name="Oval 25"/>
          <p:cNvSpPr/>
          <p:nvPr/>
        </p:nvSpPr>
        <p:spPr>
          <a:xfrm>
            <a:off x="8746007" y="3182112"/>
            <a:ext cx="155448" cy="155448"/>
          </a:xfrm>
          <a:prstGeom prst="ellipse">
            <a:avLst/>
          </a:prstGeom>
          <a:solidFill>
            <a:srgbClr val="128BD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28121" y="1399031"/>
            <a:ext cx="1391220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c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28BDC"/>
                </a:solidFill>
                <a:latin typeface="Tahoma"/>
                <a:ea typeface="Tahoma"/>
                <a:cs typeface="Tahoma"/>
              </a:rPr>
              <a:t>۲۰۲۲</a:t>
            </a:r>
          </a:p>
          <a:p>
            <a:pPr rtl="1" algn="c"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102C50"/>
                </a:solidFill>
                <a:latin typeface="Tahoma"/>
                <a:ea typeface="Tahoma"/>
                <a:cs typeface="Tahoma"/>
              </a:rPr>
              <a:t>ID.Buzz</a:t>
            </a:r>
          </a:p>
          <a:p>
            <a:pPr rtl="1" algn="c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A"/>
                </a:solidFill>
                <a:latin typeface="Tahoma"/>
                <a:ea typeface="Tahoma"/>
                <a:cs typeface="Tahoma"/>
              </a:rPr>
              <a:t>بازگشت بولی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12758" y="3099815"/>
            <a:ext cx="21945" cy="109728"/>
          </a:xfrm>
          <a:prstGeom prst="rect">
            <a:avLst/>
          </a:prstGeom>
          <a:solidFill>
            <a:srgbClr val="C7D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09949" y="3182112"/>
            <a:ext cx="155448" cy="155448"/>
          </a:xfrm>
          <a:prstGeom prst="ellipse">
            <a:avLst/>
          </a:prstGeom>
          <a:solidFill>
            <a:srgbClr val="102C5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176700" y="3392424"/>
            <a:ext cx="21945" cy="109728"/>
          </a:xfrm>
          <a:prstGeom prst="rect">
            <a:avLst/>
          </a:prstGeom>
          <a:solidFill>
            <a:srgbClr val="C7D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492062" y="3538727"/>
            <a:ext cx="1391220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c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02C50"/>
                </a:solidFill>
                <a:latin typeface="Tahoma"/>
                <a:ea typeface="Tahoma"/>
                <a:cs typeface="Tahoma"/>
              </a:rPr>
              <a:t>۲۰۲۳</a:t>
            </a:r>
          </a:p>
          <a:p>
            <a:pPr rtl="1" algn="c"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102C50"/>
                </a:solidFill>
                <a:latin typeface="Tahoma"/>
                <a:ea typeface="Tahoma"/>
                <a:cs typeface="Tahoma"/>
              </a:rPr>
              <a:t>ID.7 و رکورد تسویکاو</a:t>
            </a:r>
          </a:p>
          <a:p>
            <a:pPr rtl="1" algn="c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A"/>
                </a:solidFill>
                <a:latin typeface="Tahoma"/>
                <a:ea typeface="Tahoma"/>
                <a:cs typeface="Tahoma"/>
              </a:rPr>
              <a:t>یک‌میلیونمین EV</a:t>
            </a:r>
          </a:p>
        </p:txBody>
      </p:sp>
      <p:sp>
        <p:nvSpPr>
          <p:cNvPr id="32" name="Oval 31"/>
          <p:cNvSpPr/>
          <p:nvPr/>
        </p:nvSpPr>
        <p:spPr>
          <a:xfrm>
            <a:off x="11473891" y="3182112"/>
            <a:ext cx="155448" cy="155448"/>
          </a:xfrm>
          <a:prstGeom prst="ellipse">
            <a:avLst/>
          </a:prstGeom>
          <a:solidFill>
            <a:srgbClr val="128BD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690746" y="1399031"/>
            <a:ext cx="1391220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c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28BDC"/>
                </a:solidFill>
                <a:latin typeface="Tahoma"/>
                <a:ea typeface="Tahoma"/>
                <a:cs typeface="Tahoma"/>
              </a:rPr>
              <a:t>۲۰۲۵</a:t>
            </a:r>
          </a:p>
          <a:p>
            <a:pPr rtl="1" algn="c"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102C50"/>
                </a:solidFill>
                <a:latin typeface="Tahoma"/>
                <a:ea typeface="Tahoma"/>
                <a:cs typeface="Tahoma"/>
              </a:rPr>
              <a:t>بازسازی بزرگ</a:t>
            </a:r>
          </a:p>
          <a:p>
            <a:pPr rtl="1" algn="c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A"/>
                </a:solidFill>
                <a:latin typeface="Tahoma"/>
                <a:ea typeface="Tahoma"/>
                <a:cs typeface="Tahoma"/>
              </a:rPr>
              <a:t>کاهش هزینه و تمرکز بر سود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1540642" y="3099815"/>
            <a:ext cx="21945" cy="109728"/>
          </a:xfrm>
          <a:prstGeom prst="rect">
            <a:avLst/>
          </a:prstGeom>
          <a:solidFill>
            <a:srgbClr val="C7D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5623560"/>
            <a:ext cx="1118585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5C6B7A"/>
                </a:solidFill>
                <a:latin typeface="Tahoma"/>
                <a:ea typeface="Tahoma"/>
                <a:cs typeface="Tahoma"/>
              </a:rPr>
              <a:t>ده‌ساله‌ای که با رسوایی آغاز شد و با بزرگ‌ترین چرخش صنعتی تاریخ شرکت ادامه یافت؛ فولکس‌واگن بار دیگر خود را بازاختراع می‌کند.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62695" y="6437376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C6B7A"/>
                </a:solidFill>
                <a:latin typeface="Tahoma"/>
                <a:ea typeface="Tahoma"/>
                <a:cs typeface="Tahoma"/>
              </a:rPr>
              <a:t>تاریخچه فولکس‌واگن  |  ۱۹۳۷ تا امروز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400800"/>
            <a:ext cx="7315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28BDC"/>
                </a:solidFill>
                <a:latin typeface="Tahoma"/>
                <a:ea typeface="Tahoma"/>
                <a:cs typeface="Tahoma"/>
              </a:rPr>
              <a:t>28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6EC6F0"/>
                </a:solidFill>
                <a:latin typeface="Tahoma"/>
                <a:ea typeface="Tahoma"/>
                <a:cs typeface="Tahoma"/>
              </a:rPr>
              <a:t>پیوست دوم — آمار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8585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اعدادی که داستان را روایت می‌کنند</a:t>
            </a:r>
          </a:p>
        </p:txBody>
      </p:sp>
      <p:sp>
        <p:nvSpPr>
          <p:cNvPr id="5" name="Rectangle 4"/>
          <p:cNvSpPr/>
          <p:nvPr/>
        </p:nvSpPr>
        <p:spPr>
          <a:xfrm>
            <a:off x="10454335" y="1225296"/>
            <a:ext cx="1234440" cy="41148"/>
          </a:xfrm>
          <a:prstGeom prst="rect">
            <a:avLst/>
          </a:prstGeom>
          <a:solidFill>
            <a:srgbClr val="6E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899855" y="1239012"/>
            <a:ext cx="1417320" cy="18288"/>
          </a:xfrm>
          <a:prstGeom prst="rect">
            <a:avLst/>
          </a:prstGeom>
          <a:solidFill>
            <a:srgbClr val="2A44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691640"/>
            <a:ext cx="3545738" cy="1298448"/>
          </a:xfrm>
          <a:prstGeom prst="roundRect">
            <a:avLst>
              <a:gd name="adj" fmla="val 10000"/>
            </a:avLst>
          </a:prstGeom>
          <a:solidFill>
            <a:srgbClr val="102C50"/>
          </a:solidFill>
          <a:ln w="12700">
            <a:solidFill>
              <a:srgbClr val="224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966362" y="1856232"/>
            <a:ext cx="82296" cy="969264"/>
          </a:xfrm>
          <a:prstGeom prst="rect">
            <a:avLst/>
          </a:prstGeom>
          <a:solidFill>
            <a:srgbClr val="128B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1819656"/>
            <a:ext cx="3134258" cy="1042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200"/>
              </a:spcAft>
            </a:pPr>
            <a:r>
              <a:rPr sz="2100" b="1" i="0">
                <a:solidFill>
                  <a:srgbClr val="6EC6F0"/>
                </a:solidFill>
                <a:latin typeface="Tahoma"/>
                <a:ea typeface="Tahoma"/>
                <a:cs typeface="Tahoma"/>
              </a:rPr>
              <a:t>۲۱٬۵۲۹٬۴۶۴</a:t>
            </a:r>
          </a:p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9D6E4"/>
                </a:solidFill>
                <a:latin typeface="Tahoma"/>
                <a:ea typeface="Tahoma"/>
                <a:cs typeface="Tahoma"/>
              </a:rPr>
              <a:t>بیتل تولیدشده تا ۲۰۰۳؛ رکورد یک طرح بدنه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2978" y="1691640"/>
            <a:ext cx="3545738" cy="1298448"/>
          </a:xfrm>
          <a:prstGeom prst="roundRect">
            <a:avLst>
              <a:gd name="adj" fmla="val 10000"/>
            </a:avLst>
          </a:prstGeom>
          <a:solidFill>
            <a:srgbClr val="102C50"/>
          </a:solidFill>
          <a:ln w="12700">
            <a:solidFill>
              <a:srgbClr val="224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86420" y="1856232"/>
            <a:ext cx="82296" cy="969264"/>
          </a:xfrm>
          <a:prstGeom prst="rect">
            <a:avLst/>
          </a:prstGeom>
          <a:solidFill>
            <a:srgbClr val="128B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4146" y="1819656"/>
            <a:ext cx="3134258" cy="1042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200"/>
              </a:spcAft>
            </a:pPr>
            <a:r>
              <a:rPr sz="2100" b="1" i="0">
                <a:solidFill>
                  <a:srgbClr val="6EC6F0"/>
                </a:solidFill>
                <a:latin typeface="Tahoma"/>
                <a:ea typeface="Tahoma"/>
                <a:cs typeface="Tahoma"/>
              </a:rPr>
              <a:t>+۳۷ میلیون</a:t>
            </a:r>
          </a:p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9D6E4"/>
                </a:solidFill>
                <a:latin typeface="Tahoma"/>
                <a:ea typeface="Tahoma"/>
                <a:cs typeface="Tahoma"/>
              </a:rPr>
              <a:t>گلف فروخته‌شده از ۱۹۷۴ تاکنون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43036" y="1691640"/>
            <a:ext cx="3545738" cy="1298448"/>
          </a:xfrm>
          <a:prstGeom prst="roundRect">
            <a:avLst>
              <a:gd name="adj" fmla="val 10000"/>
            </a:avLst>
          </a:prstGeom>
          <a:solidFill>
            <a:srgbClr val="102C50"/>
          </a:solidFill>
          <a:ln w="12700">
            <a:solidFill>
              <a:srgbClr val="224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606479" y="1856232"/>
            <a:ext cx="82296" cy="969264"/>
          </a:xfrm>
          <a:prstGeom prst="rect">
            <a:avLst/>
          </a:prstGeom>
          <a:solidFill>
            <a:srgbClr val="128B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44204" y="1819656"/>
            <a:ext cx="3134258" cy="1042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200"/>
              </a:spcAft>
            </a:pPr>
            <a:r>
              <a:rPr sz="2100" b="1" i="0">
                <a:solidFill>
                  <a:srgbClr val="6EC6F0"/>
                </a:solidFill>
                <a:latin typeface="Tahoma"/>
                <a:ea typeface="Tahoma"/>
                <a:cs typeface="Tahoma"/>
              </a:rPr>
              <a:t>+۱۳ میلیون</a:t>
            </a:r>
          </a:p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9D6E4"/>
                </a:solidFill>
                <a:latin typeface="Tahoma"/>
                <a:ea typeface="Tahoma"/>
                <a:cs typeface="Tahoma"/>
              </a:rPr>
              <a:t>ترانسپورتر/بولی در هفت نسل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264408"/>
            <a:ext cx="3545738" cy="1298448"/>
          </a:xfrm>
          <a:prstGeom prst="roundRect">
            <a:avLst>
              <a:gd name="adj" fmla="val 10000"/>
            </a:avLst>
          </a:prstGeom>
          <a:solidFill>
            <a:srgbClr val="102C50"/>
          </a:solidFill>
          <a:ln w="12700">
            <a:solidFill>
              <a:srgbClr val="224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966362" y="3429000"/>
            <a:ext cx="82296" cy="969264"/>
          </a:xfrm>
          <a:prstGeom prst="rect">
            <a:avLst/>
          </a:prstGeom>
          <a:solidFill>
            <a:srgbClr val="128B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4088" y="3392424"/>
            <a:ext cx="3134258" cy="1042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200"/>
              </a:spcAft>
            </a:pPr>
            <a:r>
              <a:rPr sz="2100" b="1" i="0">
                <a:solidFill>
                  <a:srgbClr val="6EC6F0"/>
                </a:solidFill>
                <a:latin typeface="Tahoma"/>
                <a:ea typeface="Tahoma"/>
                <a:cs typeface="Tahoma"/>
              </a:rPr>
              <a:t>~۱۰ برند</a:t>
            </a:r>
          </a:p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9D6E4"/>
                </a:solidFill>
                <a:latin typeface="Tahoma"/>
                <a:ea typeface="Tahoma"/>
                <a:cs typeface="Tahoma"/>
              </a:rPr>
              <a:t>خودرویی زیر سقف گروه فولکس‌واگن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22978" y="3264408"/>
            <a:ext cx="3545738" cy="1298448"/>
          </a:xfrm>
          <a:prstGeom prst="roundRect">
            <a:avLst>
              <a:gd name="adj" fmla="val 10000"/>
            </a:avLst>
          </a:prstGeom>
          <a:solidFill>
            <a:srgbClr val="102C50"/>
          </a:solidFill>
          <a:ln w="12700">
            <a:solidFill>
              <a:srgbClr val="224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86420" y="3429000"/>
            <a:ext cx="82296" cy="969264"/>
          </a:xfrm>
          <a:prstGeom prst="rect">
            <a:avLst/>
          </a:prstGeom>
          <a:solidFill>
            <a:srgbClr val="128B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24146" y="3392424"/>
            <a:ext cx="3134258" cy="1042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200"/>
              </a:spcAft>
            </a:pPr>
            <a:r>
              <a:rPr sz="2100" b="1" i="0">
                <a:solidFill>
                  <a:srgbClr val="6EC6F0"/>
                </a:solidFill>
                <a:latin typeface="Tahoma"/>
                <a:ea typeface="Tahoma"/>
                <a:cs typeface="Tahoma"/>
              </a:rPr>
              <a:t>+۱۰۰ کارخانه</a:t>
            </a:r>
          </a:p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9D6E4"/>
                </a:solidFill>
                <a:latin typeface="Tahoma"/>
                <a:ea typeface="Tahoma"/>
                <a:cs typeface="Tahoma"/>
              </a:rPr>
              <a:t>تولیدی در بیش از ۲۰ کشور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43036" y="3264408"/>
            <a:ext cx="3545738" cy="1298448"/>
          </a:xfrm>
          <a:prstGeom prst="roundRect">
            <a:avLst>
              <a:gd name="adj" fmla="val 10000"/>
            </a:avLst>
          </a:prstGeom>
          <a:solidFill>
            <a:srgbClr val="102C50"/>
          </a:solidFill>
          <a:ln w="12700">
            <a:solidFill>
              <a:srgbClr val="224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1606479" y="3429000"/>
            <a:ext cx="82296" cy="969264"/>
          </a:xfrm>
          <a:prstGeom prst="rect">
            <a:avLst/>
          </a:prstGeom>
          <a:solidFill>
            <a:srgbClr val="128B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44204" y="3392424"/>
            <a:ext cx="3134258" cy="1042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200"/>
              </a:spcAft>
            </a:pPr>
            <a:r>
              <a:rPr sz="2100" b="1" i="0">
                <a:solidFill>
                  <a:srgbClr val="6EC6F0"/>
                </a:solidFill>
                <a:latin typeface="Tahoma"/>
                <a:ea typeface="Tahoma"/>
                <a:cs typeface="Tahoma"/>
              </a:rPr>
              <a:t>۸۹ سال</a:t>
            </a:r>
          </a:p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9D6E4"/>
                </a:solidFill>
                <a:latin typeface="Tahoma"/>
                <a:ea typeface="Tahoma"/>
                <a:cs typeface="Tahoma"/>
              </a:rPr>
              <a:t>تاریخ پیوسته از ۱۹۳۷ تا امروز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5074920"/>
            <a:ext cx="1118585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D5E0EC"/>
                </a:solidFill>
                <a:latin typeface="Tahoma"/>
                <a:ea typeface="Tahoma"/>
                <a:cs typeface="Tahoma"/>
              </a:rPr>
              <a:t>فولکس‌واگن تنها یک خودروساز نیست؛ بزرگ‌ترین کارفرمای خصوصی آلمان، بزرگ‌ترین صادرکننده صنعتی اروپا و یکی از تأثیرگذارترین برندهای قرن بیستم و بیست‌ویکم است.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62695" y="6437376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FB4C9"/>
                </a:solidFill>
                <a:latin typeface="Tahoma"/>
                <a:ea typeface="Tahoma"/>
                <a:cs typeface="Tahoma"/>
              </a:rPr>
              <a:t>تاریخچه فولکس‌واگن  |  ۱۹۳۷ تا امروز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00800"/>
            <a:ext cx="7315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EC6F0"/>
                </a:solidFill>
                <a:latin typeface="Tahoma"/>
                <a:ea typeface="Tahoma"/>
                <a:cs typeface="Tahoma"/>
              </a:rPr>
              <a:t>29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28BDC"/>
                </a:solidFill>
                <a:latin typeface="Tahoma"/>
                <a:ea typeface="Tahoma"/>
                <a:cs typeface="Tahoma"/>
              </a:rPr>
              <a:t>پیوست سوم — میراث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8585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81B33"/>
                </a:solidFill>
                <a:latin typeface="Tahoma"/>
                <a:ea typeface="Tahoma"/>
                <a:cs typeface="Tahoma"/>
              </a:rPr>
              <a:t>بیتل و بولی در فرهنگ عامه</a:t>
            </a:r>
          </a:p>
        </p:txBody>
      </p:sp>
      <p:sp>
        <p:nvSpPr>
          <p:cNvPr id="5" name="Rectangle 4"/>
          <p:cNvSpPr/>
          <p:nvPr/>
        </p:nvSpPr>
        <p:spPr>
          <a:xfrm>
            <a:off x="10454335" y="1225296"/>
            <a:ext cx="1234440" cy="41148"/>
          </a:xfrm>
          <a:prstGeom prst="rect">
            <a:avLst/>
          </a:prstGeom>
          <a:solidFill>
            <a:srgbClr val="128B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899855" y="1239012"/>
            <a:ext cx="1417320" cy="18288"/>
          </a:xfrm>
          <a:prstGeom prst="rect">
            <a:avLst/>
          </a:prstGeom>
          <a:solidFill>
            <a:srgbClr val="D5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d_poster.jpg"/>
          <p:cNvPicPr>
            <a:picLocks noChangeAspect="1"/>
          </p:cNvPicPr>
          <p:nvPr/>
        </p:nvPicPr>
        <p:blipFill>
          <a:blip r:embed="rId2"/>
          <a:srcRect l="8333" r="8333"/>
          <a:stretch>
            <a:fillRect/>
          </a:stretch>
        </p:blipFill>
        <p:spPr>
          <a:xfrm>
            <a:off x="502920" y="1572768"/>
            <a:ext cx="2514600" cy="3017520"/>
          </a:xfrm>
          <a:prstGeom prst="rect">
            <a:avLst/>
          </a:prstGeom>
          <a:ln w="34925">
            <a:solidFill>
              <a:srgbClr val="FFFFFF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02920" y="463600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B7A"/>
                </a:solidFill>
                <a:latin typeface="Tahoma"/>
                <a:ea typeface="Tahoma"/>
                <a:cs typeface="Tahoma"/>
              </a:rPr>
              <a:t>پوستر تبلیغاتی دهه ۱۹۶۰؛ بیتل و بولی در کنار هم</a:t>
            </a:r>
          </a:p>
        </p:txBody>
      </p:sp>
      <p:pic>
        <p:nvPicPr>
          <p:cNvPr id="9" name="Picture 8" descr="ad_poster2.jpg"/>
          <p:cNvPicPr>
            <a:picLocks noChangeAspect="1"/>
          </p:cNvPicPr>
          <p:nvPr/>
        </p:nvPicPr>
        <p:blipFill>
          <a:blip r:embed="rId3"/>
          <a:srcRect t="5140" b="5140"/>
          <a:stretch>
            <a:fillRect/>
          </a:stretch>
        </p:blipFill>
        <p:spPr>
          <a:xfrm>
            <a:off x="3200400" y="1572768"/>
            <a:ext cx="2514600" cy="3017520"/>
          </a:xfrm>
          <a:prstGeom prst="rect">
            <a:avLst/>
          </a:prstGeom>
          <a:ln w="34925">
            <a:solidFill>
              <a:srgbClr val="FFFFFF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3200400" y="463600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B7A"/>
                </a:solidFill>
                <a:latin typeface="Tahoma"/>
                <a:ea typeface="Tahoma"/>
                <a:cs typeface="Tahoma"/>
              </a:rPr>
              <a:t>آگهی چاپی کلاسیک بازار آمریکا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70448" y="1572768"/>
            <a:ext cx="5815584" cy="402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102C50"/>
                </a:solidFill>
                <a:latin typeface="Tahoma"/>
                <a:ea typeface="Tahoma"/>
                <a:cs typeface="Tahoma"/>
              </a:rPr>
              <a:t>سینما و موسیقی</a:t>
            </a:r>
          </a:p>
          <a:p>
            <a:pPr rtl="1" algn="r">
              <a:spcBef>
                <a:spcPts val="100"/>
              </a:spcBef>
              <a:spcAft>
                <a:spcPts val="0"/>
              </a:spcAft>
            </a:pPr>
            <a:r>
              <a:rPr sz="1250" b="0" i="0">
                <a:solidFill>
                  <a:srgbClr val="222B36"/>
                </a:solidFill>
                <a:latin typeface="Tahoma"/>
                <a:ea typeface="Tahoma"/>
                <a:cs typeface="Tahoma"/>
              </a:rPr>
              <a:t>از «هربی» ماشین عاشق تا بیتل‌های رنگارنگ پوسترهای راک؛ بیتل بخشی از زبان بصری قرن بیستم است.</a:t>
            </a:r>
          </a:p>
          <a:p>
            <a:pPr rtl="1" algn="r">
              <a:spcBef>
                <a:spcPts val="1000"/>
              </a:spcBef>
              <a:spcAft>
                <a:spcPts val="200"/>
              </a:spcAft>
            </a:pPr>
            <a:r>
              <a:rPr sz="1450" b="1" i="0">
                <a:solidFill>
                  <a:srgbClr val="102C50"/>
                </a:solidFill>
                <a:latin typeface="Tahoma"/>
                <a:ea typeface="Tahoma"/>
                <a:cs typeface="Tahoma"/>
              </a:rPr>
              <a:t>فرهنگ ون</a:t>
            </a:r>
          </a:p>
          <a:p>
            <a:pPr rtl="1" algn="r">
              <a:spcBef>
                <a:spcPts val="100"/>
              </a:spcBef>
              <a:spcAft>
                <a:spcPts val="0"/>
              </a:spcAft>
            </a:pPr>
            <a:r>
              <a:rPr sz="1250" b="0" i="0">
                <a:solidFill>
                  <a:srgbClr val="222B36"/>
                </a:solidFill>
                <a:latin typeface="Tahoma"/>
                <a:ea typeface="Tahoma"/>
                <a:cs typeface="Tahoma"/>
              </a:rPr>
              <a:t>بولی نماد هیپی‌ها، موج‌سواران و آزادی جاده شد؛ خرده‌فرهنگی که هنوز جشنواره‌های خاص خود را دارد.</a:t>
            </a:r>
          </a:p>
          <a:p>
            <a:pPr rtl="1" algn="r">
              <a:spcBef>
                <a:spcPts val="1000"/>
              </a:spcBef>
              <a:spcAft>
                <a:spcPts val="200"/>
              </a:spcAft>
            </a:pPr>
            <a:r>
              <a:rPr sz="1450" b="1" i="0">
                <a:solidFill>
                  <a:srgbClr val="102C50"/>
                </a:solidFill>
                <a:latin typeface="Tahoma"/>
                <a:ea typeface="Tahoma"/>
                <a:cs typeface="Tahoma"/>
              </a:rPr>
              <a:t>طراحی</a:t>
            </a:r>
          </a:p>
          <a:p>
            <a:pPr rtl="1" algn="r">
              <a:spcBef>
                <a:spcPts val="100"/>
              </a:spcBef>
              <a:spcAft>
                <a:spcPts val="0"/>
              </a:spcAft>
            </a:pPr>
            <a:r>
              <a:rPr sz="1250" b="0" i="0">
                <a:solidFill>
                  <a:srgbClr val="222B36"/>
                </a:solidFill>
                <a:latin typeface="Tahoma"/>
                <a:ea typeface="Tahoma"/>
                <a:cs typeface="Tahoma"/>
              </a:rPr>
              <a:t>منحنی‌های بیتل در فهرست نمادهای طراحی صنعتی قرن بیستم ثبت شده و در موزه‌های طراحی جهان نگهداری می‌شود.</a:t>
            </a:r>
          </a:p>
          <a:p>
            <a:pPr rtl="1" algn="r">
              <a:spcBef>
                <a:spcPts val="1000"/>
              </a:spcBef>
              <a:spcAft>
                <a:spcPts val="200"/>
              </a:spcAft>
            </a:pPr>
            <a:r>
              <a:rPr sz="1450" b="1" i="0">
                <a:solidFill>
                  <a:srgbClr val="102C50"/>
                </a:solidFill>
                <a:latin typeface="Tahoma"/>
                <a:ea typeface="Tahoma"/>
                <a:cs typeface="Tahoma"/>
              </a:rPr>
              <a:t>کلکسیون</a:t>
            </a:r>
          </a:p>
          <a:p>
            <a:pPr rtl="1" algn="r">
              <a:spcBef>
                <a:spcPts val="100"/>
              </a:spcBef>
              <a:spcAft>
                <a:spcPts val="0"/>
              </a:spcAft>
            </a:pPr>
            <a:r>
              <a:rPr sz="1250" b="0" i="0">
                <a:solidFill>
                  <a:srgbClr val="222B36"/>
                </a:solidFill>
                <a:latin typeface="Tahoma"/>
                <a:ea typeface="Tahoma"/>
                <a:cs typeface="Tahoma"/>
              </a:rPr>
              <a:t>بازار خودروهای کلاسیک بیتل و بولی یکی از داغ‌ترین بازارهای کلکسیونی جهان است؛ از پوئبلا تا ولفسبورگ.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5029200"/>
            <a:ext cx="52120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C6B7A"/>
                </a:solidFill>
                <a:latin typeface="Tahoma"/>
                <a:ea typeface="Tahoma"/>
                <a:cs typeface="Tahoma"/>
              </a:rPr>
              <a:t>موزه پروتوتایپ‌ها و آرشیو تاریخی ولفسبورگ، اسناد و خودروهای کمیاب این میراث را برای نسل‌های بعد حفظ می‌کند.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62695" y="6437376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C6B7A"/>
                </a:solidFill>
                <a:latin typeface="Tahoma"/>
                <a:ea typeface="Tahoma"/>
                <a:cs typeface="Tahoma"/>
              </a:rPr>
              <a:t>تاریخچه فولکس‌واگن  |  ۱۹۳۷ تا امروز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00800"/>
            <a:ext cx="7315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28BDC"/>
                </a:solidFill>
                <a:latin typeface="Tahoma"/>
                <a:ea typeface="Tahoma"/>
                <a:cs typeface="Tahoma"/>
              </a:rPr>
              <a:t>30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28BDC"/>
                </a:solidFill>
                <a:latin typeface="Tahoma"/>
                <a:ea typeface="Tahoma"/>
                <a:cs typeface="Tahoma"/>
              </a:rPr>
              <a:t>پیوست سوم — میراث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8585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81B33"/>
                </a:solidFill>
                <a:latin typeface="Tahoma"/>
                <a:ea typeface="Tahoma"/>
                <a:cs typeface="Tahoma"/>
              </a:rPr>
              <a:t>فولکس‌واگن و ایران</a:t>
            </a:r>
          </a:p>
        </p:txBody>
      </p:sp>
      <p:sp>
        <p:nvSpPr>
          <p:cNvPr id="5" name="Rectangle 4"/>
          <p:cNvSpPr/>
          <p:nvPr/>
        </p:nvSpPr>
        <p:spPr>
          <a:xfrm>
            <a:off x="10454335" y="1225296"/>
            <a:ext cx="1234440" cy="41148"/>
          </a:xfrm>
          <a:prstGeom prst="rect">
            <a:avLst/>
          </a:prstGeom>
          <a:solidFill>
            <a:srgbClr val="128B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899855" y="1239012"/>
            <a:ext cx="1417320" cy="18288"/>
          </a:xfrm>
          <a:prstGeom prst="rect">
            <a:avLst/>
          </a:prstGeom>
          <a:solidFill>
            <a:srgbClr val="D5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2625013" cy="731520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655064"/>
            <a:ext cx="2625013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rtl="1" algn="c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02C50"/>
                </a:solidFill>
                <a:latin typeface="Tahoma"/>
                <a:ea typeface="Tahoma"/>
                <a:cs typeface="Tahoma"/>
              </a:rPr>
              <a:t>پیش از ۱۹۷۹</a:t>
            </a:r>
          </a:p>
          <a:p>
            <a:pPr rtl="1" algn="c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C6B7A"/>
                </a:solidFill>
                <a:latin typeface="Tahoma"/>
                <a:ea typeface="Tahoma"/>
                <a:cs typeface="Tahoma"/>
              </a:rPr>
              <a:t>حضور بیتل و بولی در خیابان‌ها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56533" y="1600200"/>
            <a:ext cx="2625013" cy="731520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56533" y="1655064"/>
            <a:ext cx="2625013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rtl="1" algn="c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02C50"/>
                </a:solidFill>
                <a:latin typeface="Tahoma"/>
                <a:ea typeface="Tahoma"/>
                <a:cs typeface="Tahoma"/>
              </a:rPr>
              <a:t>دهه ۱۳۸۰</a:t>
            </a:r>
          </a:p>
          <a:p>
            <a:pPr rtl="1" algn="c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C6B7A"/>
                </a:solidFill>
                <a:latin typeface="Tahoma"/>
                <a:ea typeface="Tahoma"/>
                <a:cs typeface="Tahoma"/>
              </a:rPr>
              <a:t>واردات محدود گلف و پاسات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0147" y="1600200"/>
            <a:ext cx="2625013" cy="731520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0147" y="1655064"/>
            <a:ext cx="2625013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rtl="1" algn="c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02C50"/>
                </a:solidFill>
                <a:latin typeface="Tahoma"/>
                <a:ea typeface="Tahoma"/>
                <a:cs typeface="Tahoma"/>
              </a:rPr>
              <a:t>دهه ۱۳۹۰</a:t>
            </a:r>
          </a:p>
          <a:p>
            <a:pPr rtl="1" algn="c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C6B7A"/>
                </a:solidFill>
                <a:latin typeface="Tahoma"/>
                <a:ea typeface="Tahoma"/>
                <a:cs typeface="Tahoma"/>
              </a:rPr>
              <a:t>ورود تیگوآن و مدل‌های جدید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63761" y="1600200"/>
            <a:ext cx="2625013" cy="731520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2700"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63761" y="1655064"/>
            <a:ext cx="2625013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rtl="1" algn="c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02C50"/>
                </a:solidFill>
                <a:latin typeface="Tahoma"/>
                <a:ea typeface="Tahoma"/>
                <a:cs typeface="Tahoma"/>
              </a:rPr>
              <a:t>امروز</a:t>
            </a:r>
          </a:p>
          <a:p>
            <a:pPr rtl="1" algn="c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C6B7A"/>
                </a:solidFill>
                <a:latin typeface="Tahoma"/>
                <a:ea typeface="Tahoma"/>
                <a:cs typeface="Tahoma"/>
              </a:rPr>
              <a:t>بازار کلاسیک و کلکسیونی فعال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697480"/>
            <a:ext cx="11185855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300"/>
              </a:spcAft>
            </a:pPr>
            <a:r>
              <a:rPr sz="1550" b="1" i="0">
                <a:solidFill>
                  <a:srgbClr val="102C50"/>
                </a:solidFill>
                <a:latin typeface="Tahoma"/>
                <a:ea typeface="Tahoma"/>
                <a:cs typeface="Tahoma"/>
              </a:rPr>
              <a:t>حضور تاریخی</a:t>
            </a:r>
          </a:p>
          <a:p>
            <a:pPr rtl="1" algn="r">
              <a:spcBef>
                <a:spcPts val="0"/>
              </a:spcBef>
              <a:spcAft>
                <a:spcPts val="1000"/>
              </a:spcAft>
            </a:pPr>
            <a:r>
              <a:rPr sz="1350" b="0" i="0">
                <a:solidFill>
                  <a:srgbClr val="222B36"/>
                </a:solidFill>
                <a:latin typeface="Tahoma"/>
                <a:ea typeface="Tahoma"/>
                <a:cs typeface="Tahoma"/>
              </a:rPr>
              <a:t>پیش از انقلاب ۱۳۵۷، بیتل و ترانسپورتر در ناوگان شهری و جاده‌های ایران حضور داشتند و در خاطره جمعی نسل‌ها مانده‌اند؛ بسیاری از این خودروها هنوز در موزه‌ها و مجموعه‌های خصوصی نگهداری می‌شوند.</a:t>
            </a:r>
          </a:p>
          <a:p>
            <a:pPr rtl="1" algn="r">
              <a:spcBef>
                <a:spcPts val="0"/>
              </a:spcBef>
              <a:spcAft>
                <a:spcPts val="300"/>
              </a:spcAft>
            </a:pPr>
            <a:r>
              <a:rPr sz="1550" b="1" i="0">
                <a:solidFill>
                  <a:srgbClr val="102C50"/>
                </a:solidFill>
                <a:latin typeface="Tahoma"/>
                <a:ea typeface="Tahoma"/>
                <a:cs typeface="Tahoma"/>
              </a:rPr>
              <a:t>دوران واردات</a:t>
            </a:r>
          </a:p>
          <a:p>
            <a:pPr rtl="1" algn="r">
              <a:spcBef>
                <a:spcPts val="0"/>
              </a:spcBef>
              <a:spcAft>
                <a:spcPts val="1000"/>
              </a:spcAft>
            </a:pPr>
            <a:r>
              <a:rPr sz="1350" b="0" i="0">
                <a:solidFill>
                  <a:srgbClr val="222B36"/>
                </a:solidFill>
                <a:latin typeface="Tahoma"/>
                <a:ea typeface="Tahoma"/>
                <a:cs typeface="Tahoma"/>
              </a:rPr>
              <a:t>در دهه‌های اخیر، مدل‌هایی مانند گلف، پاسات و تیگوآن بیشتر از مسیر واردات محدود و موازی وارد بازار شده‌اند؛ تحریم‌ها و محدودیت‌های واردات خودرو مانع شکل‌گیری شبکه رسمی فروش و خدمات پس از فروش شد.</a:t>
            </a:r>
          </a:p>
          <a:p>
            <a:pPr rtl="1" algn="r">
              <a:spcBef>
                <a:spcPts val="0"/>
              </a:spcBef>
              <a:spcAft>
                <a:spcPts val="300"/>
              </a:spcAft>
            </a:pPr>
            <a:r>
              <a:rPr sz="1550" b="1" i="0">
                <a:solidFill>
                  <a:srgbClr val="102C50"/>
                </a:solidFill>
                <a:latin typeface="Tahoma"/>
                <a:ea typeface="Tahoma"/>
                <a:cs typeface="Tahoma"/>
              </a:rPr>
              <a:t>امروز</a:t>
            </a:r>
          </a:p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22B36"/>
                </a:solidFill>
                <a:latin typeface="Tahoma"/>
                <a:ea typeface="Tahoma"/>
                <a:cs typeface="Tahoma"/>
              </a:rPr>
              <a:t>با وجود نبود نمایندگی رسمی، برند فولکس‌واگن در ایران محبوب است؛ جامعه کلکسیونرهای بیتل و بولی فعال‌اند و مدل‌های وارداتی دهه ۱۳۹۰ در بازار دست‌دوم طرفداران خاص خود را دارند.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62695" y="6437376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C6B7A"/>
                </a:solidFill>
                <a:latin typeface="Tahoma"/>
                <a:ea typeface="Tahoma"/>
                <a:cs typeface="Tahoma"/>
              </a:rPr>
              <a:t>تاریخچه فولکس‌واگن  |  ۱۹۳۷ تا امروز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00800"/>
            <a:ext cx="7315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28BDC"/>
                </a:solidFill>
                <a:latin typeface="Tahoma"/>
                <a:ea typeface="Tahoma"/>
                <a:cs typeface="Tahoma"/>
              </a:rPr>
              <a:t>31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28BDC"/>
                </a:solidFill>
                <a:latin typeface="Tahoma"/>
                <a:ea typeface="Tahoma"/>
                <a:cs typeface="Tahoma"/>
              </a:rPr>
              <a:t>پیوست چهارم — چشم‌انداز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8585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81B33"/>
                </a:solidFill>
                <a:latin typeface="Tahoma"/>
                <a:ea typeface="Tahoma"/>
                <a:cs typeface="Tahoma"/>
              </a:rPr>
              <a:t>چالش‌ها و فرصت‌های راه ۲۰۳۰</a:t>
            </a:r>
          </a:p>
        </p:txBody>
      </p:sp>
      <p:sp>
        <p:nvSpPr>
          <p:cNvPr id="5" name="Rectangle 4"/>
          <p:cNvSpPr/>
          <p:nvPr/>
        </p:nvSpPr>
        <p:spPr>
          <a:xfrm>
            <a:off x="10454335" y="1225296"/>
            <a:ext cx="1234440" cy="41148"/>
          </a:xfrm>
          <a:prstGeom prst="rect">
            <a:avLst/>
          </a:prstGeom>
          <a:solidFill>
            <a:srgbClr val="128B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899855" y="1239012"/>
            <a:ext cx="1417320" cy="18288"/>
          </a:xfrm>
          <a:prstGeom prst="rect">
            <a:avLst/>
          </a:prstGeom>
          <a:solidFill>
            <a:srgbClr val="D5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5432907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853531" y="1828800"/>
            <a:ext cx="82296" cy="1371600"/>
          </a:xfrm>
          <a:prstGeom prst="rect">
            <a:avLst/>
          </a:prstGeom>
          <a:solidFill>
            <a:srgbClr val="128B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828800"/>
            <a:ext cx="4975707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102C50"/>
                </a:solidFill>
                <a:latin typeface="Tahoma"/>
                <a:ea typeface="Tahoma"/>
                <a:cs typeface="Tahoma"/>
              </a:rPr>
              <a:t>رقابت چین</a:t>
            </a:r>
          </a:p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22B36"/>
                </a:solidFill>
                <a:latin typeface="Tahoma"/>
                <a:ea typeface="Tahoma"/>
                <a:cs typeface="Tahoma"/>
              </a:rPr>
              <a:t>BYD و شیائومی با قیمت پایین‌تر و نرم‌افزار چابک‌تر، سهم بازار اروپا و آمریکای جنوبی را هدف گرفته‌اند.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55867" y="1645920"/>
            <a:ext cx="5432907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606479" y="1828800"/>
            <a:ext cx="82296" cy="1371600"/>
          </a:xfrm>
          <a:prstGeom prst="rect">
            <a:avLst/>
          </a:prstGeom>
          <a:solidFill>
            <a:srgbClr val="E8B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4467" y="1828800"/>
            <a:ext cx="4975707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102C50"/>
                </a:solidFill>
                <a:latin typeface="Tahoma"/>
                <a:ea typeface="Tahoma"/>
                <a:cs typeface="Tahoma"/>
              </a:rPr>
              <a:t>نرم‌افزار</a:t>
            </a:r>
          </a:p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22B36"/>
                </a:solidFill>
                <a:latin typeface="Tahoma"/>
                <a:ea typeface="Tahoma"/>
                <a:cs typeface="Tahoma"/>
              </a:rPr>
              <a:t>تأخیرهای واحد نرم‌افزاری Cariad درس سختی بود؛ اکنون همکاری با Rivian و XPeng مسیر را باز کرده است.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657600"/>
            <a:ext cx="5432907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853531" y="3840480"/>
            <a:ext cx="82296" cy="1371600"/>
          </a:xfrm>
          <a:prstGeom prst="rect">
            <a:avLst/>
          </a:prstGeom>
          <a:solidFill>
            <a:srgbClr val="128B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840480"/>
            <a:ext cx="4975707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102C50"/>
                </a:solidFill>
                <a:latin typeface="Tahoma"/>
                <a:ea typeface="Tahoma"/>
                <a:cs typeface="Tahoma"/>
              </a:rPr>
              <a:t>هزینه و نیروی انسانی</a:t>
            </a:r>
          </a:p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22B36"/>
                </a:solidFill>
                <a:latin typeface="Tahoma"/>
                <a:ea typeface="Tahoma"/>
                <a:cs typeface="Tahoma"/>
              </a:rPr>
              <a:t>توافق با اتحادیه‌ها برای کاهش حدود ۳۵ هزار شغل تا ۲۰۳۰ بدون تعطیلی کارخانه‌های اصلی آلمان.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55867" y="3657600"/>
            <a:ext cx="5432907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606479" y="3840480"/>
            <a:ext cx="82296" cy="1371600"/>
          </a:xfrm>
          <a:prstGeom prst="rect">
            <a:avLst/>
          </a:prstGeom>
          <a:solidFill>
            <a:srgbClr val="E8B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84467" y="3840480"/>
            <a:ext cx="4975707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102C50"/>
                </a:solidFill>
                <a:latin typeface="Tahoma"/>
                <a:ea typeface="Tahoma"/>
                <a:cs typeface="Tahoma"/>
              </a:rPr>
              <a:t>فرصت‌ها</a:t>
            </a:r>
          </a:p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22B36"/>
                </a:solidFill>
                <a:latin typeface="Tahoma"/>
                <a:ea typeface="Tahoma"/>
                <a:cs typeface="Tahoma"/>
              </a:rPr>
              <a:t>SUVهای برقی مقرون‌به‌صرفه، بازگشت قدرتمند به آمریکای شمالی و رشد بازارهای نوظهور.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5577840"/>
            <a:ext cx="1118585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1350" b="0" i="1">
                <a:solidFill>
                  <a:srgbClr val="5C6B7A"/>
                </a:solidFill>
                <a:latin typeface="Tahoma"/>
                <a:ea typeface="Tahoma"/>
                <a:cs typeface="Tahoma"/>
              </a:rPr>
              <a:t>پرسش بزرگ دهه پیش رو: آیا غول ولفسبورگ می‌تواند چابکی استارت‌آپ‌های برقی را با عمق مهندسی آلمانی ترکیب کند؟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62695" y="6437376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C6B7A"/>
                </a:solidFill>
                <a:latin typeface="Tahoma"/>
                <a:ea typeface="Tahoma"/>
                <a:cs typeface="Tahoma"/>
              </a:rPr>
              <a:t>تاریخچه فولکس‌واگن  |  ۱۹۳۷ تا امروز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00800"/>
            <a:ext cx="7315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28BDC"/>
                </a:solidFill>
                <a:latin typeface="Tahoma"/>
                <a:ea typeface="Tahoma"/>
                <a:cs typeface="Tahoma"/>
              </a:rPr>
              <a:t>32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sect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roundel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4335" y="50292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1737360"/>
            <a:ext cx="1118585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EC6F0"/>
                </a:solidFill>
                <a:latin typeface="Tahoma"/>
                <a:ea typeface="Tahoma"/>
                <a:cs typeface="Tahoma"/>
              </a:rPr>
              <a:t>جمع‌بندی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103120"/>
            <a:ext cx="1118585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داستانی که با یک وعده آغاز شد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42855" y="2999232"/>
            <a:ext cx="1645920" cy="45720"/>
          </a:xfrm>
          <a:prstGeom prst="rect">
            <a:avLst/>
          </a:prstGeom>
          <a:solidFill>
            <a:srgbClr val="E8B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291840"/>
            <a:ext cx="11185855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800"/>
              </a:spcAft>
            </a:pPr>
            <a:r>
              <a:rPr sz="1550" b="0" i="0">
                <a:solidFill>
                  <a:srgbClr val="DCE6F0"/>
                </a:solidFill>
                <a:latin typeface="Tahoma"/>
                <a:ea typeface="Tahoma"/>
                <a:cs typeface="Tahoma"/>
              </a:rPr>
              <a:t>فولکس‌واگن از دل تاریک‌ترین فصل تاریخ اروپا برخاست و با صداقت مهندسی، بازسازی شد؛ بیتل، گلف و بولی سه نماد جاودانه‌اند و خانواده ID فصل تازه همین روایت است.</a:t>
            </a:r>
          </a:p>
          <a:p>
            <a:pPr rtl="1" algn="r">
              <a:spcBef>
                <a:spcPts val="0"/>
              </a:spcBef>
              <a:spcAft>
                <a:spcPts val="800"/>
              </a:spcAft>
            </a:pPr>
            <a:r>
              <a:rPr sz="1550" b="0" i="0">
                <a:solidFill>
                  <a:srgbClr val="DCE6F0"/>
                </a:solidFill>
                <a:latin typeface="Tahoma"/>
                <a:ea typeface="Tahoma"/>
                <a:cs typeface="Tahoma"/>
              </a:rPr>
              <a:t>سه درس بزرگ این تاریخ: انعطاف‌پذیری مهندسی، صداقت برند در برابر مشتری، و شجاعت در بازسازی خود پیش از آنکه بازار مجبورت کند.</a:t>
            </a:r>
          </a:p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6EC6F0"/>
                </a:solidFill>
                <a:latin typeface="Tahoma"/>
                <a:ea typeface="Tahoma"/>
                <a:cs typeface="Tahoma"/>
              </a:rPr>
              <a:t>«خودروی مردم» هنوز در حرکت است؛ این‌بار بی‌صدا، برقی و برای نسل تازه‌ای از مردم.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2695" y="6437376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FB4C9"/>
                </a:solidFill>
                <a:latin typeface="Tahoma"/>
                <a:ea typeface="Tahoma"/>
                <a:cs typeface="Tahoma"/>
              </a:rPr>
              <a:t>تاریخچه فولکس‌واگن  |  ۱۹۳۷ تا امروز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7315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EC6F0"/>
                </a:solidFill>
                <a:latin typeface="Tahoma"/>
                <a:ea typeface="Tahoma"/>
                <a:cs typeface="Tahoma"/>
              </a:rPr>
              <a:t>33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28BDC"/>
                </a:solidFill>
                <a:latin typeface="Tahoma"/>
                <a:ea typeface="Tahoma"/>
                <a:cs typeface="Tahoma"/>
              </a:rPr>
              <a:t>پیوست پنجم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8585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81B33"/>
                </a:solidFill>
                <a:latin typeface="Tahoma"/>
                <a:ea typeface="Tahoma"/>
                <a:cs typeface="Tahoma"/>
              </a:rPr>
              <a:t>منابع و مأخذ</a:t>
            </a:r>
          </a:p>
        </p:txBody>
      </p:sp>
      <p:sp>
        <p:nvSpPr>
          <p:cNvPr id="5" name="Rectangle 4"/>
          <p:cNvSpPr/>
          <p:nvPr/>
        </p:nvSpPr>
        <p:spPr>
          <a:xfrm>
            <a:off x="10454335" y="1225296"/>
            <a:ext cx="1234440" cy="41148"/>
          </a:xfrm>
          <a:prstGeom prst="rect">
            <a:avLst/>
          </a:prstGeom>
          <a:solidFill>
            <a:srgbClr val="128B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899855" y="1239012"/>
            <a:ext cx="1417320" cy="18288"/>
          </a:xfrm>
          <a:prstGeom prst="rect">
            <a:avLst/>
          </a:prstGeom>
          <a:solidFill>
            <a:srgbClr val="D5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645920"/>
            <a:ext cx="11185855" cy="420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02C50"/>
                </a:solidFill>
                <a:latin typeface="Tahoma"/>
                <a:ea typeface="Tahoma"/>
                <a:cs typeface="Tahoma"/>
              </a:rPr>
              <a:t>•  Volkswagen Group Chronicle — تاریخ رسمی شرکت (volkswagen-group.com)</a:t>
            </a:r>
          </a:p>
          <a:p>
            <a:pPr rtl="1" algn="r">
              <a:spcBef>
                <a:spcPts val="1000"/>
              </a:spcBef>
              <a:spcAft>
                <a:spcPts val="0"/>
              </a:spcAft>
            </a:pPr>
            <a:r>
              <a:rPr sz="1400" b="0" i="0">
                <a:solidFill>
                  <a:srgbClr val="102C50"/>
                </a:solidFill>
                <a:latin typeface="Tahoma"/>
                <a:ea typeface="Tahoma"/>
                <a:cs typeface="Tahoma"/>
              </a:rPr>
              <a:t>•  Volkswagen Newsroom و آرشیو تصاویر تاریخی کارخانه ولفسبورگ</a:t>
            </a:r>
          </a:p>
          <a:p>
            <a:pPr rtl="1" algn="r">
              <a:spcBef>
                <a:spcPts val="1000"/>
              </a:spcBef>
              <a:spcAft>
                <a:spcPts val="0"/>
              </a:spcAft>
            </a:pPr>
            <a:r>
              <a:rPr sz="1400" b="0" i="0">
                <a:solidFill>
                  <a:srgbClr val="102C50"/>
                </a:solidFill>
                <a:latin typeface="Tahoma"/>
                <a:ea typeface="Tahoma"/>
                <a:cs typeface="Tahoma"/>
              </a:rPr>
              <a:t>•  یادبود کار اجباری فولکس‌واگن، ولفسبورگ (Erinnerungsstätte Zwangsarbeit)</a:t>
            </a:r>
          </a:p>
          <a:p>
            <a:pPr rtl="1" algn="r">
              <a:spcBef>
                <a:spcPts val="1000"/>
              </a:spcBef>
              <a:spcAft>
                <a:spcPts val="0"/>
              </a:spcAft>
            </a:pPr>
            <a:r>
              <a:rPr sz="1400" b="0" i="0">
                <a:solidFill>
                  <a:srgbClr val="102C50"/>
                </a:solidFill>
                <a:latin typeface="Tahoma"/>
                <a:ea typeface="Tahoma"/>
                <a:cs typeface="Tahoma"/>
              </a:rPr>
              <a:t>•  کتاب The People's Car: A Global History of the Volkswagen — Bernhard Rieger</a:t>
            </a:r>
          </a:p>
          <a:p>
            <a:pPr rtl="1" algn="r">
              <a:spcBef>
                <a:spcPts val="1000"/>
              </a:spcBef>
              <a:spcAft>
                <a:spcPts val="0"/>
              </a:spcAft>
            </a:pPr>
            <a:r>
              <a:rPr sz="1400" b="0" i="0">
                <a:solidFill>
                  <a:srgbClr val="102C50"/>
                </a:solidFill>
                <a:latin typeface="Tahoma"/>
                <a:ea typeface="Tahoma"/>
                <a:cs typeface="Tahoma"/>
              </a:rPr>
              <a:t>•  آرشیو کمپین‌های تبلیغاتی DDB و موزه تبلیغات نیویورک</a:t>
            </a:r>
          </a:p>
          <a:p>
            <a:pPr rtl="1" algn="r">
              <a:spcBef>
                <a:spcPts val="1000"/>
              </a:spcBef>
              <a:spcAft>
                <a:spcPts val="0"/>
              </a:spcAft>
            </a:pPr>
            <a:r>
              <a:rPr sz="1400" b="0" i="0">
                <a:solidFill>
                  <a:srgbClr val="102C50"/>
                </a:solidFill>
                <a:latin typeface="Tahoma"/>
                <a:ea typeface="Tahoma"/>
                <a:cs typeface="Tahoma"/>
              </a:rPr>
              <a:t>•  Hagerty Media / Getty Images — آرشیو عکس‌های تاریخی خودرو</a:t>
            </a:r>
          </a:p>
          <a:p>
            <a:pPr rtl="1" algn="r">
              <a:spcBef>
                <a:spcPts val="1000"/>
              </a:spcBef>
              <a:spcAft>
                <a:spcPts val="0"/>
              </a:spcAft>
            </a:pPr>
            <a:r>
              <a:rPr sz="1400" b="0" i="0">
                <a:solidFill>
                  <a:srgbClr val="102C50"/>
                </a:solidFill>
                <a:latin typeface="Tahoma"/>
                <a:ea typeface="Tahoma"/>
                <a:cs typeface="Tahoma"/>
              </a:rPr>
              <a:t>•  مقالات تاریخی Wikipedia: History of Volkswagen و Volkswagen Group</a:t>
            </a:r>
          </a:p>
          <a:p>
            <a:pPr rtl="1" algn="r">
              <a:spcBef>
                <a:spcPts val="1000"/>
              </a:spcBef>
              <a:spcAft>
                <a:spcPts val="0"/>
              </a:spcAft>
            </a:pPr>
            <a:r>
              <a:rPr sz="1400" b="0" i="0">
                <a:solidFill>
                  <a:srgbClr val="102C50"/>
                </a:solidFill>
                <a:latin typeface="Tahoma"/>
                <a:ea typeface="Tahoma"/>
                <a:cs typeface="Tahoma"/>
              </a:rPr>
              <a:t>•  گزارش‌های سالانه گروه فولکس‌واگن (۲۰۲۳–۲۰۲۵)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760720"/>
            <a:ext cx="1118585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5C6B7A"/>
                </a:solidFill>
                <a:latin typeface="Tahoma"/>
                <a:ea typeface="Tahoma"/>
                <a:cs typeface="Tahoma"/>
              </a:rPr>
              <a:t>تصاویر این ارائه از آرشیوهای تاریخی و منابع عمومی گردآوری شده و صرفاً برای مقاصد آموزشی استفاده شده‌اند.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2695" y="6437376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C6B7A"/>
                </a:solidFill>
                <a:latin typeface="Tahoma"/>
                <a:ea typeface="Tahoma"/>
                <a:cs typeface="Tahoma"/>
              </a:rPr>
              <a:t>تاریخچه فولکس‌واگن  |  ۱۹۳۷ تا امروز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00800"/>
            <a:ext cx="7315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28BDC"/>
                </a:solidFill>
                <a:latin typeface="Tahoma"/>
                <a:ea typeface="Tahoma"/>
                <a:cs typeface="Tahoma"/>
              </a:rPr>
              <a:t>34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e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roundel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0047" y="1874519"/>
            <a:ext cx="1371600" cy="1371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3429000"/>
            <a:ext cx="1118585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c"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سپاس از توجه شما</a:t>
            </a:r>
          </a:p>
          <a:p>
            <a:pPr rtl="1" algn="c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EC6F0"/>
                </a:solidFill>
                <a:latin typeface="Tahoma"/>
                <a:ea typeface="Tahoma"/>
                <a:cs typeface="Tahoma"/>
              </a:rPr>
              <a:t>«خودروی مردم» هنوز در حرکت است.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0"/>
            <a:ext cx="1118585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c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B9CBDD"/>
                </a:solidFill>
                <a:latin typeface="Tahoma"/>
                <a:ea typeface="Tahoma"/>
                <a:cs typeface="Tahoma"/>
              </a:rPr>
              <a:t>تهیه‌شده با آرشیو تاریخی فولکس‌واگن  •  پاییز ۲۰۲۵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تاریخچه فولکس‌واگن</dc:title>
  <dc:subject>روایت کامل تاریخ فولکس‌واگن از ۱۹۳۷ تا امروز</dc:subject>
  <dc:creator>Arena Agent</dc:creator>
  <cp:keywords/>
  <dc:description>Persian RTL deck, 36 slides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